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IBM Plex Sans"/>
      <p:regular r:id="rId20"/>
      <p:bold r:id="rId21"/>
      <p:italic r:id="rId22"/>
      <p:boldItalic r:id="rId23"/>
    </p:embeddedFont>
    <p:embeddedFont>
      <p:font typeface="Sora SemiBold"/>
      <p:regular r:id="rId24"/>
      <p:bold r:id="rId25"/>
    </p:embeddedFont>
    <p:embeddedFont>
      <p:font typeface="IBM Plex Sans Medium"/>
      <p:regular r:id="rId26"/>
      <p:bold r:id="rId27"/>
      <p:italic r:id="rId28"/>
      <p:boldItalic r:id="rId29"/>
    </p:embeddedFont>
    <p:embeddedFont>
      <p:font typeface="Sora Light"/>
      <p:regular r:id="rId30"/>
      <p:bold r:id="rId31"/>
    </p:embeddedFont>
    <p:embeddedFont>
      <p:font typeface="Sora ExtraLight"/>
      <p:regular r:id="rId32"/>
      <p:bold r:id="rId33"/>
    </p:embeddedFont>
    <p:embeddedFont>
      <p:font typeface="Sora"/>
      <p:regular r:id="rId34"/>
      <p:bold r:id="rId35"/>
    </p:embeddedFont>
    <p:embeddedFont>
      <p:font typeface="Sora Medium"/>
      <p:regular r:id="rId36"/>
      <p:bold r:id="rId37"/>
    </p:embeddedFont>
    <p:embeddedFont>
      <p:font typeface="IBM Plex Sans SemiBold"/>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SemiBold-italic.fntdata"/><Relationship Id="rId41" Type="http://schemas.openxmlformats.org/officeDocument/2006/relationships/font" Target="fonts/IBMPlexSa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raLight-bold.fntdata"/><Relationship Id="rId30" Type="http://schemas.openxmlformats.org/officeDocument/2006/relationships/font" Target="fonts/SoraLight-regular.fntdata"/><Relationship Id="rId33" Type="http://schemas.openxmlformats.org/officeDocument/2006/relationships/font" Target="fonts/SoraExtraLight-bold.fntdata"/><Relationship Id="rId32" Type="http://schemas.openxmlformats.org/officeDocument/2006/relationships/font" Target="fonts/SoraExtraLight-regular.fntdata"/><Relationship Id="rId35" Type="http://schemas.openxmlformats.org/officeDocument/2006/relationships/font" Target="fonts/Sora-bold.fntdata"/><Relationship Id="rId34" Type="http://schemas.openxmlformats.org/officeDocument/2006/relationships/font" Target="fonts/Sora-regular.fntdata"/><Relationship Id="rId37" Type="http://schemas.openxmlformats.org/officeDocument/2006/relationships/font" Target="fonts/SoraMedium-bold.fntdata"/><Relationship Id="rId36" Type="http://schemas.openxmlformats.org/officeDocument/2006/relationships/font" Target="fonts/SoraMedium-regular.fntdata"/><Relationship Id="rId39" Type="http://schemas.openxmlformats.org/officeDocument/2006/relationships/font" Target="fonts/IBMPlexSansSemiBold-bold.fntdata"/><Relationship Id="rId38" Type="http://schemas.openxmlformats.org/officeDocument/2006/relationships/font" Target="fonts/IBMPlexSansSemiBold-regular.fntdata"/><Relationship Id="rId20" Type="http://schemas.openxmlformats.org/officeDocument/2006/relationships/font" Target="fonts/IBMPlexSans-regular.fntdata"/><Relationship Id="rId22" Type="http://schemas.openxmlformats.org/officeDocument/2006/relationships/font" Target="fonts/IBMPlexSans-italic.fntdata"/><Relationship Id="rId21" Type="http://schemas.openxmlformats.org/officeDocument/2006/relationships/font" Target="fonts/IBMPlexSans-bold.fntdata"/><Relationship Id="rId24" Type="http://schemas.openxmlformats.org/officeDocument/2006/relationships/font" Target="fonts/SoraSemiBold-regular.fntdata"/><Relationship Id="rId23" Type="http://schemas.openxmlformats.org/officeDocument/2006/relationships/font" Target="fonts/IBMPlexSans-boldItalic.fntdata"/><Relationship Id="rId26" Type="http://schemas.openxmlformats.org/officeDocument/2006/relationships/font" Target="fonts/IBMPlexSansMedium-regular.fntdata"/><Relationship Id="rId25" Type="http://schemas.openxmlformats.org/officeDocument/2006/relationships/font" Target="fonts/SoraSemiBold-bold.fntdata"/><Relationship Id="rId28" Type="http://schemas.openxmlformats.org/officeDocument/2006/relationships/font" Target="fonts/IBMPlexSansMedium-italic.fntdata"/><Relationship Id="rId27" Type="http://schemas.openxmlformats.org/officeDocument/2006/relationships/font" Target="fonts/IBMPlexSansMedium-bold.fntdata"/><Relationship Id="rId29" Type="http://schemas.openxmlformats.org/officeDocument/2006/relationships/font" Target="fonts/IBMPlexSans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8c5a9348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8c5a9348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8c5a93481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8c5a93481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8c5a93481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38c5a93481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8c5a93481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8c5a93481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Bardia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8c5a93481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38c5a93481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Kyran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8c5a934817_0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8c5a934817_0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Max</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8c5a934817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38c5a934817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Kyran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8c5a934817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8c5a934817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Bardia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8c5a93481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8c5a93481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Max</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8c5a93481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8c5a93481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Max</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8c5a93481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38c5a93481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Bardia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8c5a934817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38c5a934817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Kyran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8c5a934817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38c5a934817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Kyran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8c5a934817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38c5a934817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idx="2" type="subTitle"/>
          </p:nvPr>
        </p:nvSpPr>
        <p:spPr>
          <a:xfrm>
            <a:off x="228600" y="3503625"/>
            <a:ext cx="5178900" cy="732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Sora"/>
                <a:ea typeface="Sora"/>
                <a:cs typeface="Sora"/>
                <a:sym typeface="Sora"/>
              </a:rPr>
              <a:t>ATGS (Academic Ticketing and Graduation System)</a:t>
            </a:r>
            <a:endParaRPr sz="1500">
              <a:latin typeface="Sora"/>
              <a:ea typeface="Sora"/>
              <a:cs typeface="Sora"/>
              <a:sym typeface="Sora"/>
            </a:endParaRPr>
          </a:p>
          <a:p>
            <a:pPr indent="0" lvl="0" marL="0" rtl="0" algn="l">
              <a:lnSpc>
                <a:spcPct val="115000"/>
              </a:lnSpc>
              <a:spcBef>
                <a:spcPts val="0"/>
              </a:spcBef>
              <a:spcAft>
                <a:spcPts val="0"/>
              </a:spcAft>
              <a:buNone/>
            </a:pPr>
            <a:r>
              <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Team 1337</a:t>
            </a:r>
            <a:endParaRPr>
              <a:latin typeface="Sora"/>
              <a:ea typeface="Sora"/>
              <a:cs typeface="Sora"/>
              <a:sym typeface="Sora"/>
            </a:endParaRPr>
          </a:p>
        </p:txBody>
      </p:sp>
      <p:sp>
        <p:nvSpPr>
          <p:cNvPr id="889" name="Google Shape;889;p51"/>
          <p:cNvSpPr txBox="1"/>
          <p:nvPr>
            <p:ph type="title"/>
          </p:nvPr>
        </p:nvSpPr>
        <p:spPr>
          <a:xfrm>
            <a:off x="124950" y="2172575"/>
            <a:ext cx="5876700" cy="95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Project Proposal</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52"/>
          <p:cNvSpPr txBox="1"/>
          <p:nvPr>
            <p:ph idx="3" type="title"/>
          </p:nvPr>
        </p:nvSpPr>
        <p:spPr>
          <a:xfrm>
            <a:off x="115025" y="471075"/>
            <a:ext cx="3941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Contents</a:t>
            </a:r>
            <a:endParaRPr/>
          </a:p>
        </p:txBody>
      </p:sp>
      <p:sp>
        <p:nvSpPr>
          <p:cNvPr id="895" name="Google Shape;895;p52"/>
          <p:cNvSpPr txBox="1"/>
          <p:nvPr>
            <p:ph idx="5" type="subTitle"/>
          </p:nvPr>
        </p:nvSpPr>
        <p:spPr>
          <a:xfrm>
            <a:off x="4482800" y="3195787"/>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5</a:t>
            </a:r>
            <a:r>
              <a:rPr b="0" lang="en"/>
              <a:t>.</a:t>
            </a:r>
            <a:endParaRPr b="0"/>
          </a:p>
        </p:txBody>
      </p:sp>
      <p:sp>
        <p:nvSpPr>
          <p:cNvPr id="896" name="Google Shape;896;p52"/>
          <p:cNvSpPr txBox="1"/>
          <p:nvPr>
            <p:ph idx="6" type="subTitle"/>
          </p:nvPr>
        </p:nvSpPr>
        <p:spPr>
          <a:xfrm>
            <a:off x="4482800" y="2894863"/>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Modes of Operation</a:t>
            </a:r>
            <a:endParaRPr/>
          </a:p>
        </p:txBody>
      </p:sp>
      <p:sp>
        <p:nvSpPr>
          <p:cNvPr id="897" name="Google Shape;897;p52"/>
          <p:cNvSpPr txBox="1"/>
          <p:nvPr>
            <p:ph idx="7" type="subTitle"/>
          </p:nvPr>
        </p:nvSpPr>
        <p:spPr>
          <a:xfrm>
            <a:off x="4482800" y="266200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4</a:t>
            </a:r>
            <a:r>
              <a:rPr b="0" lang="en"/>
              <a:t>.</a:t>
            </a:r>
            <a:endParaRPr b="0"/>
          </a:p>
        </p:txBody>
      </p:sp>
      <p:sp>
        <p:nvSpPr>
          <p:cNvPr id="898" name="Google Shape;898;p52"/>
          <p:cNvSpPr txBox="1"/>
          <p:nvPr>
            <p:ph idx="8" type="subTitle"/>
          </p:nvPr>
        </p:nvSpPr>
        <p:spPr>
          <a:xfrm>
            <a:off x="4482800" y="2361863"/>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Project Timeline</a:t>
            </a:r>
            <a:endParaRPr/>
          </a:p>
        </p:txBody>
      </p:sp>
      <p:sp>
        <p:nvSpPr>
          <p:cNvPr id="899" name="Google Shape;899;p52"/>
          <p:cNvSpPr txBox="1"/>
          <p:nvPr>
            <p:ph idx="9" type="subTitle"/>
          </p:nvPr>
        </p:nvSpPr>
        <p:spPr>
          <a:xfrm>
            <a:off x="4482800" y="212900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3.</a:t>
            </a:r>
            <a:endParaRPr b="0"/>
          </a:p>
        </p:txBody>
      </p:sp>
      <p:sp>
        <p:nvSpPr>
          <p:cNvPr id="900" name="Google Shape;900;p52"/>
          <p:cNvSpPr txBox="1"/>
          <p:nvPr>
            <p:ph idx="13" type="subTitle"/>
          </p:nvPr>
        </p:nvSpPr>
        <p:spPr>
          <a:xfrm>
            <a:off x="4482800" y="1829238"/>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Current System &amp; </a:t>
            </a:r>
            <a:r>
              <a:rPr lang="en"/>
              <a:t>Solution &amp; Objectives</a:t>
            </a:r>
            <a:endParaRPr/>
          </a:p>
        </p:txBody>
      </p:sp>
      <p:sp>
        <p:nvSpPr>
          <p:cNvPr id="901" name="Google Shape;901;p52"/>
          <p:cNvSpPr txBox="1"/>
          <p:nvPr>
            <p:ph idx="14" type="subTitle"/>
          </p:nvPr>
        </p:nvSpPr>
        <p:spPr>
          <a:xfrm>
            <a:off x="4482800" y="1596375"/>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2</a:t>
            </a:r>
            <a:r>
              <a:rPr b="0" lang="en"/>
              <a:t>.</a:t>
            </a:r>
            <a:endParaRPr b="0"/>
          </a:p>
        </p:txBody>
      </p:sp>
      <p:sp>
        <p:nvSpPr>
          <p:cNvPr id="902" name="Google Shape;902;p52"/>
          <p:cNvSpPr txBox="1"/>
          <p:nvPr>
            <p:ph idx="15" type="subTitle"/>
          </p:nvPr>
        </p:nvSpPr>
        <p:spPr>
          <a:xfrm>
            <a:off x="4482800" y="1296613"/>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Meet the Team</a:t>
            </a:r>
            <a:endParaRPr/>
          </a:p>
        </p:txBody>
      </p:sp>
      <p:sp>
        <p:nvSpPr>
          <p:cNvPr id="903" name="Google Shape;903;p52"/>
          <p:cNvSpPr txBox="1"/>
          <p:nvPr>
            <p:ph idx="16" type="subTitle"/>
          </p:nvPr>
        </p:nvSpPr>
        <p:spPr>
          <a:xfrm>
            <a:off x="4482800" y="106375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1</a:t>
            </a:r>
            <a:r>
              <a:rPr b="0" lang="en"/>
              <a:t>.</a:t>
            </a:r>
            <a:endParaRPr b="0"/>
          </a:p>
        </p:txBody>
      </p:sp>
      <p:sp>
        <p:nvSpPr>
          <p:cNvPr id="904" name="Google Shape;904;p52"/>
          <p:cNvSpPr txBox="1"/>
          <p:nvPr>
            <p:ph idx="1" type="subTitle"/>
          </p:nvPr>
        </p:nvSpPr>
        <p:spPr>
          <a:xfrm>
            <a:off x="4482800" y="3963975"/>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Software System Attributes</a:t>
            </a:r>
            <a:endParaRPr/>
          </a:p>
        </p:txBody>
      </p:sp>
      <p:sp>
        <p:nvSpPr>
          <p:cNvPr id="905" name="Google Shape;905;p52"/>
          <p:cNvSpPr txBox="1"/>
          <p:nvPr>
            <p:ph idx="2" type="subTitle"/>
          </p:nvPr>
        </p:nvSpPr>
        <p:spPr>
          <a:xfrm>
            <a:off x="4482800" y="3731112"/>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6.</a:t>
            </a:r>
            <a:endParaRPr b="0"/>
          </a:p>
        </p:txBody>
      </p:sp>
      <p:sp>
        <p:nvSpPr>
          <p:cNvPr id="906" name="Google Shape;906;p52"/>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Operational Scenarios</a:t>
            </a:r>
            <a:endParaRPr/>
          </a:p>
        </p:txBody>
      </p:sp>
      <p:sp>
        <p:nvSpPr>
          <p:cNvPr id="907" name="Google Shape;907;p52"/>
          <p:cNvSpPr txBox="1"/>
          <p:nvPr>
            <p:ph idx="16" type="subTitle"/>
          </p:nvPr>
        </p:nvSpPr>
        <p:spPr>
          <a:xfrm>
            <a:off x="4482800" y="4241175"/>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7</a:t>
            </a:r>
            <a:r>
              <a:rPr b="0" lang="en"/>
              <a:t>.</a:t>
            </a:r>
            <a:endParaRPr b="0"/>
          </a:p>
        </p:txBody>
      </p:sp>
      <p:sp>
        <p:nvSpPr>
          <p:cNvPr id="908" name="Google Shape;908;p52"/>
          <p:cNvSpPr txBox="1"/>
          <p:nvPr>
            <p:ph idx="1" type="subTitle"/>
          </p:nvPr>
        </p:nvSpPr>
        <p:spPr>
          <a:xfrm>
            <a:off x="4482800" y="4439475"/>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UML Component Diagram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53"/>
          <p:cNvSpPr/>
          <p:nvPr/>
        </p:nvSpPr>
        <p:spPr>
          <a:xfrm rot="1181745">
            <a:off x="3565253" y="751191"/>
            <a:ext cx="2013499" cy="1991018"/>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Sora"/>
              <a:ea typeface="Sora"/>
              <a:cs typeface="Sora"/>
              <a:sym typeface="Sora"/>
            </a:endParaRPr>
          </a:p>
        </p:txBody>
      </p:sp>
      <p:sp>
        <p:nvSpPr>
          <p:cNvPr id="914" name="Google Shape;914;p53"/>
          <p:cNvSpPr/>
          <p:nvPr/>
        </p:nvSpPr>
        <p:spPr>
          <a:xfrm rot="9649294">
            <a:off x="-1341325" y="856718"/>
            <a:ext cx="4949603" cy="1779974"/>
          </a:xfrm>
          <a:prstGeom prst="chord">
            <a:avLst>
              <a:gd fmla="val 2548532" name="adj1"/>
              <a:gd fmla="val 19993265"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5" name="Google Shape;915;p53"/>
          <p:cNvSpPr/>
          <p:nvPr/>
        </p:nvSpPr>
        <p:spPr>
          <a:xfrm rot="748054">
            <a:off x="393745" y="1246154"/>
            <a:ext cx="3226691" cy="1216883"/>
          </a:xfrm>
          <a:prstGeom prst="flowChartConnector">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6" name="Google Shape;916;p53"/>
          <p:cNvSpPr/>
          <p:nvPr/>
        </p:nvSpPr>
        <p:spPr>
          <a:xfrm flipH="1">
            <a:off x="1158450" y="1403425"/>
            <a:ext cx="2799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Sora"/>
              <a:ea typeface="Sora"/>
              <a:cs typeface="Sora"/>
              <a:sym typeface="Sora"/>
            </a:endParaRPr>
          </a:p>
        </p:txBody>
      </p:sp>
      <p:sp>
        <p:nvSpPr>
          <p:cNvPr id="917" name="Google Shape;917;p53"/>
          <p:cNvSpPr/>
          <p:nvPr/>
        </p:nvSpPr>
        <p:spPr>
          <a:xfrm flipH="1">
            <a:off x="1158450" y="1549150"/>
            <a:ext cx="2799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Sora"/>
              <a:ea typeface="Sora"/>
              <a:cs typeface="Sora"/>
              <a:sym typeface="Sora"/>
            </a:endParaRPr>
          </a:p>
        </p:txBody>
      </p:sp>
      <p:sp>
        <p:nvSpPr>
          <p:cNvPr id="918" name="Google Shape;918;p53"/>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ATGS</a:t>
            </a:r>
            <a:endParaRPr/>
          </a:p>
        </p:txBody>
      </p:sp>
      <p:sp>
        <p:nvSpPr>
          <p:cNvPr id="919" name="Google Shape;919;p53"/>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other Junior in the class.</a:t>
            </a:r>
            <a:endParaRPr/>
          </a:p>
          <a:p>
            <a:pPr indent="0" lvl="0" marL="0" rtl="0" algn="ctr">
              <a:spcBef>
                <a:spcPts val="0"/>
              </a:spcBef>
              <a:spcAft>
                <a:spcPts val="0"/>
              </a:spcAft>
              <a:buNone/>
            </a:pPr>
            <a:r>
              <a:rPr lang="en"/>
              <a:t>Will mainly work on backend/database</a:t>
            </a:r>
            <a:endParaRPr/>
          </a:p>
        </p:txBody>
      </p:sp>
      <p:sp>
        <p:nvSpPr>
          <p:cNvPr id="920" name="Google Shape;920;p53"/>
          <p:cNvSpPr txBox="1"/>
          <p:nvPr>
            <p:ph idx="5" type="title"/>
          </p:nvPr>
        </p:nvSpPr>
        <p:spPr>
          <a:xfrm>
            <a:off x="1111850" y="2088850"/>
            <a:ext cx="1758600" cy="519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400"/>
              <a:t>Kyran McCown</a:t>
            </a:r>
            <a:endParaRPr>
              <a:solidFill>
                <a:schemeClr val="accent6"/>
              </a:solidFill>
            </a:endParaRPr>
          </a:p>
        </p:txBody>
      </p:sp>
      <p:sp>
        <p:nvSpPr>
          <p:cNvPr id="921" name="Google Shape;921;p53"/>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One of the Juniors of the class.</a:t>
            </a:r>
            <a:endParaRPr/>
          </a:p>
          <a:p>
            <a:pPr indent="0" lvl="0" marL="0" rtl="0" algn="ctr">
              <a:spcBef>
                <a:spcPts val="0"/>
              </a:spcBef>
              <a:spcAft>
                <a:spcPts val="0"/>
              </a:spcAft>
              <a:buNone/>
            </a:pPr>
            <a:r>
              <a:rPr lang="en"/>
              <a:t>Will be mainly working on the </a:t>
            </a:r>
            <a:r>
              <a:rPr lang="en"/>
              <a:t>frontend</a:t>
            </a:r>
            <a:r>
              <a:rPr lang="en"/>
              <a:t> of the project</a:t>
            </a:r>
            <a:endParaRPr/>
          </a:p>
        </p:txBody>
      </p:sp>
      <p:sp>
        <p:nvSpPr>
          <p:cNvPr id="922" name="Google Shape;922;p53"/>
          <p:cNvSpPr txBox="1"/>
          <p:nvPr>
            <p:ph idx="7" type="title"/>
          </p:nvPr>
        </p:nvSpPr>
        <p:spPr>
          <a:xfrm>
            <a:off x="3692700" y="2099650"/>
            <a:ext cx="1758600" cy="49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400"/>
              <a:t>Bardia Ahmadi</a:t>
            </a:r>
            <a:endParaRPr>
              <a:solidFill>
                <a:schemeClr val="lt2"/>
              </a:solidFill>
            </a:endParaRPr>
          </a:p>
        </p:txBody>
      </p:sp>
      <p:sp>
        <p:nvSpPr>
          <p:cNvPr id="923" name="Google Shape;923;p53"/>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Senior CS Student.</a:t>
            </a:r>
            <a:endParaRPr/>
          </a:p>
          <a:p>
            <a:pPr indent="0" lvl="0" marL="0" rtl="0" algn="ctr">
              <a:spcBef>
                <a:spcPts val="0"/>
              </a:spcBef>
              <a:spcAft>
                <a:spcPts val="0"/>
              </a:spcAft>
              <a:buNone/>
            </a:pPr>
            <a:r>
              <a:rPr lang="en"/>
              <a:t>Will be working on both frontend and backend development.</a:t>
            </a:r>
            <a:endParaRPr/>
          </a:p>
        </p:txBody>
      </p:sp>
      <p:sp>
        <p:nvSpPr>
          <p:cNvPr id="924" name="Google Shape;924;p53"/>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sz="1600">
                <a:latin typeface="IBM Plex Sans Medium"/>
                <a:ea typeface="IBM Plex Sans Medium"/>
                <a:cs typeface="IBM Plex Sans Medium"/>
                <a:sym typeface="IBM Plex Sans Medium"/>
              </a:rPr>
              <a:t>Meet the team</a:t>
            </a:r>
            <a:endParaRPr sz="1600">
              <a:latin typeface="IBM Plex Sans Medium"/>
              <a:ea typeface="IBM Plex Sans Medium"/>
              <a:cs typeface="IBM Plex Sans Medium"/>
              <a:sym typeface="IBM Plex Sans Medium"/>
            </a:endParaRPr>
          </a:p>
        </p:txBody>
      </p:sp>
      <p:sp>
        <p:nvSpPr>
          <p:cNvPr id="925" name="Google Shape;925;p53"/>
          <p:cNvSpPr txBox="1"/>
          <p:nvPr>
            <p:ph idx="9" type="title"/>
          </p:nvPr>
        </p:nvSpPr>
        <p:spPr>
          <a:xfrm>
            <a:off x="6062350" y="2155750"/>
            <a:ext cx="1686000" cy="385500"/>
          </a:xfrm>
          <a:prstGeom prst="rect">
            <a:avLst/>
          </a:prstGeom>
          <a:effectLst>
            <a:reflection blurRad="0" dir="5400000" dist="38100" endA="0" endPos="30000" fadeDir="5400012" kx="0" rotWithShape="0" algn="bl" stPos="0" sy="-100000" ky="0"/>
          </a:effectLst>
        </p:spPr>
        <p:txBody>
          <a:bodyPr anchorCtr="0" anchor="b" bIns="91425" lIns="91425" spcFirstLastPara="1" rIns="91425" wrap="square" tIns="91425">
            <a:noAutofit/>
          </a:bodyPr>
          <a:lstStyle/>
          <a:p>
            <a:pPr indent="0" lvl="0" marL="0" rtl="0" algn="ctr">
              <a:spcBef>
                <a:spcPts val="0"/>
              </a:spcBef>
              <a:spcAft>
                <a:spcPts val="0"/>
              </a:spcAft>
              <a:buNone/>
            </a:pPr>
            <a:r>
              <a:rPr lang="en" sz="1400"/>
              <a:t>Max Melner</a:t>
            </a:r>
            <a:endParaRPr sz="1400">
              <a:solidFill>
                <a:schemeClr val="accent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5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ATGS</a:t>
            </a:r>
            <a:endParaRPr/>
          </a:p>
        </p:txBody>
      </p:sp>
      <p:sp>
        <p:nvSpPr>
          <p:cNvPr id="931" name="Google Shape;931;p54"/>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Advisors are hard to reach sometimes. Why not put in a ticket?</a:t>
            </a:r>
            <a:endParaRPr/>
          </a:p>
        </p:txBody>
      </p:sp>
      <p:sp>
        <p:nvSpPr>
          <p:cNvPr id="932" name="Google Shape;932;p54"/>
          <p:cNvSpPr txBox="1"/>
          <p:nvPr>
            <p:ph idx="1" type="subTitle"/>
          </p:nvPr>
        </p:nvSpPr>
        <p:spPr>
          <a:xfrm>
            <a:off x="96025" y="3243900"/>
            <a:ext cx="3759600" cy="1659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t>Wanna know what classes to pick in week 7?</a:t>
            </a:r>
            <a:endParaRPr b="1"/>
          </a:p>
          <a:p>
            <a:pPr indent="0" lvl="0" marL="0" rtl="0" algn="l">
              <a:spcBef>
                <a:spcPts val="1000"/>
              </a:spcBef>
              <a:spcAft>
                <a:spcPts val="0"/>
              </a:spcAft>
              <a:buNone/>
            </a:pPr>
            <a:r>
              <a:rPr lang="en">
                <a:latin typeface="Sora Light"/>
                <a:ea typeface="Sora Light"/>
                <a:cs typeface="Sora Light"/>
                <a:sym typeface="Sora Light"/>
              </a:rPr>
              <a:t>Good luck! Most students probably have experience with waiting for hours or having to show up at specific times to be able to ask a simple question.</a:t>
            </a:r>
            <a:endParaRPr>
              <a:latin typeface="Sora Light"/>
              <a:ea typeface="Sora Light"/>
              <a:cs typeface="Sora Light"/>
              <a:sym typeface="Sora Light"/>
            </a:endParaRPr>
          </a:p>
          <a:p>
            <a:pPr indent="0" lvl="0" marL="0" rtl="0" algn="l">
              <a:spcBef>
                <a:spcPts val="1000"/>
              </a:spcBef>
              <a:spcAft>
                <a:spcPts val="1000"/>
              </a:spcAft>
              <a:buNone/>
            </a:pPr>
            <a:r>
              <a:rPr lang="en">
                <a:latin typeface="Sora Light"/>
                <a:ea typeface="Sora Light"/>
                <a:cs typeface="Sora Light"/>
                <a:sym typeface="Sora Light"/>
              </a:rPr>
              <a:t>We’re here to change that. With our ticketing system and Graduation planner. You’ll have access to </a:t>
            </a:r>
            <a:r>
              <a:rPr lang="en">
                <a:latin typeface="Sora Light"/>
                <a:ea typeface="Sora Light"/>
                <a:cs typeface="Sora Light"/>
                <a:sym typeface="Sora Light"/>
              </a:rPr>
              <a:t>advisors all the time.</a:t>
            </a:r>
            <a:endParaRPr>
              <a:latin typeface="Sora Light"/>
              <a:ea typeface="Sora Light"/>
              <a:cs typeface="Sora Light"/>
              <a:sym typeface="Sora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55"/>
          <p:cNvSpPr txBox="1"/>
          <p:nvPr>
            <p:ph idx="1" type="subTitle"/>
          </p:nvPr>
        </p:nvSpPr>
        <p:spPr>
          <a:xfrm>
            <a:off x="228600" y="1449425"/>
            <a:ext cx="8420700" cy="346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Sora Light"/>
                <a:ea typeface="Sora Light"/>
                <a:cs typeface="Sora Light"/>
                <a:sym typeface="Sora Light"/>
              </a:rPr>
              <a:t>Have an academic question that you want to ask an advisor?</a:t>
            </a:r>
            <a:endParaRPr sz="1300">
              <a:latin typeface="Sora Light"/>
              <a:ea typeface="Sora Light"/>
              <a:cs typeface="Sora Light"/>
              <a:sym typeface="Sora Light"/>
            </a:endParaRPr>
          </a:p>
          <a:p>
            <a:pPr indent="0" lvl="0" marL="457200" rtl="0" algn="l">
              <a:spcBef>
                <a:spcPts val="1000"/>
              </a:spcBef>
              <a:spcAft>
                <a:spcPts val="0"/>
              </a:spcAft>
              <a:buNone/>
            </a:pPr>
            <a:r>
              <a:rPr lang="en">
                <a:latin typeface="Sora Light"/>
                <a:ea typeface="Sora Light"/>
                <a:cs typeface="Sora Light"/>
                <a:sym typeface="Sora Light"/>
              </a:rPr>
              <a:t>1.  Meet in person?</a:t>
            </a:r>
            <a:endParaRPr>
              <a:latin typeface="Sora Light"/>
              <a:ea typeface="Sora Light"/>
              <a:cs typeface="Sora Light"/>
              <a:sym typeface="Sora Light"/>
            </a:endParaRPr>
          </a:p>
          <a:p>
            <a:pPr indent="0" lvl="0" marL="457200" rtl="0" algn="l">
              <a:spcBef>
                <a:spcPts val="1000"/>
              </a:spcBef>
              <a:spcAft>
                <a:spcPts val="0"/>
              </a:spcAft>
              <a:buNone/>
            </a:pPr>
            <a:r>
              <a:rPr lang="en">
                <a:latin typeface="Sora Light"/>
                <a:ea typeface="Sora Light"/>
                <a:cs typeface="Sora Light"/>
                <a:sym typeface="Sora Light"/>
              </a:rPr>
              <a:t>	Students can either show up at the specific drop-in hours</a:t>
            </a:r>
            <a:endParaRPr>
              <a:latin typeface="Sora Light"/>
              <a:ea typeface="Sora Light"/>
              <a:cs typeface="Sora Light"/>
              <a:sym typeface="Sora Light"/>
            </a:endParaRPr>
          </a:p>
          <a:p>
            <a:pPr indent="0" lvl="0" marL="457200" rtl="0" algn="l">
              <a:spcBef>
                <a:spcPts val="1000"/>
              </a:spcBef>
              <a:spcAft>
                <a:spcPts val="0"/>
              </a:spcAft>
              <a:buNone/>
            </a:pPr>
            <a:r>
              <a:rPr lang="en">
                <a:latin typeface="Sora Light"/>
                <a:ea typeface="Sora Light"/>
                <a:cs typeface="Sora Light"/>
                <a:sym typeface="Sora Light"/>
              </a:rPr>
              <a:t>	Book an appointment on Navigate 360</a:t>
            </a:r>
            <a:endParaRPr>
              <a:latin typeface="Sora Light"/>
              <a:ea typeface="Sora Light"/>
              <a:cs typeface="Sora Light"/>
              <a:sym typeface="Sora Light"/>
            </a:endParaRPr>
          </a:p>
          <a:p>
            <a:pPr indent="0" lvl="0" marL="457200" rtl="0" algn="l">
              <a:spcBef>
                <a:spcPts val="1000"/>
              </a:spcBef>
              <a:spcAft>
                <a:spcPts val="0"/>
              </a:spcAft>
              <a:buNone/>
            </a:pPr>
            <a:r>
              <a:rPr lang="en">
                <a:latin typeface="Sora Light"/>
                <a:ea typeface="Sora Light"/>
                <a:cs typeface="Sora Light"/>
                <a:sym typeface="Sora Light"/>
              </a:rPr>
              <a:t>2. Meet online? Tykeson Hall too far?</a:t>
            </a:r>
            <a:endParaRPr>
              <a:latin typeface="Sora Light"/>
              <a:ea typeface="Sora Light"/>
              <a:cs typeface="Sora Light"/>
              <a:sym typeface="Sora Light"/>
            </a:endParaRPr>
          </a:p>
          <a:p>
            <a:pPr indent="0" lvl="0" marL="457200" rtl="0" algn="l">
              <a:spcBef>
                <a:spcPts val="1000"/>
              </a:spcBef>
              <a:spcAft>
                <a:spcPts val="0"/>
              </a:spcAft>
              <a:buNone/>
            </a:pPr>
            <a:r>
              <a:rPr lang="en">
                <a:latin typeface="Sora Light"/>
                <a:ea typeface="Sora Light"/>
                <a:cs typeface="Sora Light"/>
                <a:sym typeface="Sora Light"/>
              </a:rPr>
              <a:t>	You can only do so by booking an appointment</a:t>
            </a:r>
            <a:endParaRPr>
              <a:latin typeface="Sora Light"/>
              <a:ea typeface="Sora Light"/>
              <a:cs typeface="Sora Light"/>
              <a:sym typeface="Sora Light"/>
            </a:endParaRPr>
          </a:p>
          <a:p>
            <a:pPr indent="0" lvl="0" marL="0" rtl="0" algn="l">
              <a:spcBef>
                <a:spcPts val="1000"/>
              </a:spcBef>
              <a:spcAft>
                <a:spcPts val="0"/>
              </a:spcAft>
              <a:buNone/>
            </a:pPr>
            <a:r>
              <a:t/>
            </a:r>
            <a:endParaRPr>
              <a:latin typeface="Sora Light"/>
              <a:ea typeface="Sora Light"/>
              <a:cs typeface="Sora Light"/>
              <a:sym typeface="Sora Light"/>
            </a:endParaRPr>
          </a:p>
          <a:p>
            <a:pPr indent="0" lvl="0" marL="0" rtl="0" algn="l">
              <a:spcBef>
                <a:spcPts val="1000"/>
              </a:spcBef>
              <a:spcAft>
                <a:spcPts val="0"/>
              </a:spcAft>
              <a:buNone/>
            </a:pPr>
            <a:r>
              <a:rPr lang="en">
                <a:latin typeface="Sora Light"/>
                <a:ea typeface="Sora Light"/>
                <a:cs typeface="Sora Light"/>
                <a:sym typeface="Sora Light"/>
              </a:rPr>
              <a:t>You can see that not a lot of flexibility is considered on what kind of questions students might have.</a:t>
            </a:r>
            <a:endParaRPr>
              <a:latin typeface="Sora Light"/>
              <a:ea typeface="Sora Light"/>
              <a:cs typeface="Sora Light"/>
              <a:sym typeface="Sora Light"/>
            </a:endParaRPr>
          </a:p>
          <a:p>
            <a:pPr indent="0" lvl="0" marL="0" rtl="0" algn="l">
              <a:spcBef>
                <a:spcPts val="1000"/>
              </a:spcBef>
              <a:spcAft>
                <a:spcPts val="1000"/>
              </a:spcAft>
              <a:buNone/>
            </a:pPr>
            <a:r>
              <a:rPr lang="en">
                <a:latin typeface="Sora Light"/>
                <a:ea typeface="Sora Light"/>
                <a:cs typeface="Sora Light"/>
                <a:sym typeface="Sora Light"/>
              </a:rPr>
              <a:t>Whether your question takes 5 minutes to answer or an hour, you only have these options.</a:t>
            </a:r>
            <a:endParaRPr>
              <a:latin typeface="Sora Light"/>
              <a:ea typeface="Sora Light"/>
              <a:cs typeface="Sora Light"/>
              <a:sym typeface="Sora Light"/>
            </a:endParaRPr>
          </a:p>
        </p:txBody>
      </p:sp>
      <p:sp>
        <p:nvSpPr>
          <p:cNvPr id="938" name="Google Shape;938;p55"/>
          <p:cNvSpPr txBox="1"/>
          <p:nvPr>
            <p:ph idx="2" type="title"/>
          </p:nvPr>
        </p:nvSpPr>
        <p:spPr>
          <a:xfrm>
            <a:off x="107575" y="376475"/>
            <a:ext cx="6507000" cy="695400"/>
          </a:xfrm>
          <a:prstGeom prst="rect">
            <a:avLst/>
          </a:prstGeom>
        </p:spPr>
        <p:txBody>
          <a:bodyPr anchorCtr="0" anchor="t" bIns="91425" lIns="91425" spcFirstLastPara="1" rIns="91425" wrap="square" tIns="0">
            <a:noAutofit/>
          </a:bodyPr>
          <a:lstStyle/>
          <a:p>
            <a:pPr indent="0" lvl="0" marL="0" rtl="0" algn="l">
              <a:lnSpc>
                <a:spcPct val="80000"/>
              </a:lnSpc>
              <a:spcBef>
                <a:spcPts val="0"/>
              </a:spcBef>
              <a:spcAft>
                <a:spcPts val="0"/>
              </a:spcAft>
              <a:buNone/>
            </a:pPr>
            <a:r>
              <a:rPr lang="en"/>
              <a:t>Current System</a:t>
            </a:r>
            <a:endParaRPr/>
          </a:p>
        </p:txBody>
      </p:sp>
      <p:sp>
        <p:nvSpPr>
          <p:cNvPr id="939" name="Google Shape;939;p5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ATGS</a:t>
            </a:r>
            <a:endParaRPr/>
          </a:p>
        </p:txBody>
      </p:sp>
      <p:pic>
        <p:nvPicPr>
          <p:cNvPr id="940" name="Google Shape;940;p55"/>
          <p:cNvPicPr preferRelativeResize="0"/>
          <p:nvPr/>
        </p:nvPicPr>
        <p:blipFill>
          <a:blip r:embed="rId3">
            <a:alphaModFix/>
          </a:blip>
          <a:stretch>
            <a:fillRect/>
          </a:stretch>
        </p:blipFill>
        <p:spPr>
          <a:xfrm>
            <a:off x="5548100" y="98875"/>
            <a:ext cx="2525700" cy="3238800"/>
          </a:xfrm>
          <a:prstGeom prst="roundRect">
            <a:avLst>
              <a:gd fmla="val 7512" name="adj"/>
            </a:avLst>
          </a:prstGeom>
          <a:noFill/>
          <a:ln>
            <a:noFill/>
          </a:ln>
          <a:effectLst>
            <a:outerShdw blurRad="57150" rotWithShape="0" algn="bl" dir="2700000" dist="1714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56"/>
          <p:cNvSpPr txBox="1"/>
          <p:nvPr>
            <p:ph idx="1" type="subTitle"/>
          </p:nvPr>
        </p:nvSpPr>
        <p:spPr>
          <a:xfrm>
            <a:off x="228600" y="1466375"/>
            <a:ext cx="7200000" cy="344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Students’ time matters:</a:t>
            </a:r>
            <a:endParaRPr b="1" sz="1200"/>
          </a:p>
          <a:p>
            <a:pPr indent="457200" lvl="0" marL="0" rtl="0" algn="l">
              <a:spcBef>
                <a:spcPts val="1000"/>
              </a:spcBef>
              <a:spcAft>
                <a:spcPts val="0"/>
              </a:spcAft>
              <a:buNone/>
            </a:pPr>
            <a:r>
              <a:rPr lang="en" sz="1200">
                <a:latin typeface="Sora Light"/>
                <a:ea typeface="Sora Light"/>
                <a:cs typeface="Sora Light"/>
                <a:sym typeface="Sora Light"/>
              </a:rPr>
              <a:t>Booking an appointment or clearing your schedule for drop-in hours is hard</a:t>
            </a:r>
            <a:endParaRPr sz="1200">
              <a:latin typeface="Sora Light"/>
              <a:ea typeface="Sora Light"/>
              <a:cs typeface="Sora Light"/>
              <a:sym typeface="Sora Light"/>
            </a:endParaRPr>
          </a:p>
          <a:p>
            <a:pPr indent="457200" lvl="0" marL="0" rtl="0" algn="l">
              <a:spcBef>
                <a:spcPts val="1000"/>
              </a:spcBef>
              <a:spcAft>
                <a:spcPts val="0"/>
              </a:spcAft>
              <a:buNone/>
            </a:pPr>
            <a:r>
              <a:rPr lang="en" sz="1200">
                <a:latin typeface="Sora Light"/>
                <a:ea typeface="Sora Light"/>
                <a:cs typeface="Sora Light"/>
                <a:sym typeface="Sora Light"/>
              </a:rPr>
              <a:t>Sometimes students go </a:t>
            </a:r>
            <a:r>
              <a:rPr lang="en" sz="1200">
                <a:latin typeface="Sora Light"/>
                <a:ea typeface="Sora Light"/>
                <a:cs typeface="Sora Light"/>
                <a:sym typeface="Sora Light"/>
              </a:rPr>
              <a:t>without</a:t>
            </a:r>
            <a:r>
              <a:rPr lang="en" sz="1200">
                <a:latin typeface="Sora Light"/>
                <a:ea typeface="Sora Light"/>
                <a:cs typeface="Sora Light"/>
                <a:sym typeface="Sora Light"/>
              </a:rPr>
              <a:t> knowing the answer to their questions </a:t>
            </a:r>
            <a:endParaRPr sz="1200">
              <a:latin typeface="Sora Light"/>
              <a:ea typeface="Sora Light"/>
              <a:cs typeface="Sora Light"/>
              <a:sym typeface="Sora Light"/>
            </a:endParaRPr>
          </a:p>
          <a:p>
            <a:pPr indent="0" lvl="0" marL="457200" rtl="0" algn="l">
              <a:spcBef>
                <a:spcPts val="1000"/>
              </a:spcBef>
              <a:spcAft>
                <a:spcPts val="0"/>
              </a:spcAft>
              <a:buNone/>
            </a:pPr>
            <a:r>
              <a:rPr lang="en" sz="1200">
                <a:latin typeface="Sora Light"/>
                <a:ea typeface="Sora Light"/>
                <a:cs typeface="Sora Light"/>
                <a:sym typeface="Sora Light"/>
              </a:rPr>
              <a:t>Planning your courses for your graduation can be confusing, with an extensive course catalog and unclear requirements</a:t>
            </a:r>
            <a:endParaRPr sz="1200">
              <a:latin typeface="Sora Light"/>
              <a:ea typeface="Sora Light"/>
              <a:cs typeface="Sora Light"/>
              <a:sym typeface="Sora Light"/>
            </a:endParaRPr>
          </a:p>
          <a:p>
            <a:pPr indent="0" lvl="0" marL="0" rtl="0" algn="l">
              <a:spcBef>
                <a:spcPts val="1000"/>
              </a:spcBef>
              <a:spcAft>
                <a:spcPts val="0"/>
              </a:spcAft>
              <a:buNone/>
            </a:pPr>
            <a:r>
              <a:rPr b="1" lang="en" sz="1200"/>
              <a:t>Asking </a:t>
            </a:r>
            <a:r>
              <a:rPr b="1" lang="en" sz="1200"/>
              <a:t>questions</a:t>
            </a:r>
            <a:r>
              <a:rPr b="1" lang="en" sz="1200"/>
              <a:t> in </a:t>
            </a:r>
            <a:r>
              <a:rPr b="1" lang="en" sz="1200"/>
              <a:t>person</a:t>
            </a:r>
            <a:r>
              <a:rPr b="1" lang="en" sz="1200"/>
              <a:t> has its flaws:</a:t>
            </a:r>
            <a:endParaRPr b="1" sz="1200"/>
          </a:p>
          <a:p>
            <a:pPr indent="457200" lvl="0" marL="0" rtl="0" algn="l">
              <a:spcBef>
                <a:spcPts val="1000"/>
              </a:spcBef>
              <a:spcAft>
                <a:spcPts val="0"/>
              </a:spcAft>
              <a:buNone/>
            </a:pPr>
            <a:r>
              <a:rPr lang="en" sz="1200">
                <a:latin typeface="Sora Light"/>
                <a:ea typeface="Sora Light"/>
                <a:cs typeface="Sora Light"/>
                <a:sym typeface="Sora Light"/>
              </a:rPr>
              <a:t>Students might forget to note something important</a:t>
            </a:r>
            <a:endParaRPr sz="1200">
              <a:latin typeface="Sora Light"/>
              <a:ea typeface="Sora Light"/>
              <a:cs typeface="Sora Light"/>
              <a:sym typeface="Sora Light"/>
            </a:endParaRPr>
          </a:p>
          <a:p>
            <a:pPr indent="457200" lvl="0" marL="0" rtl="0" algn="l">
              <a:spcBef>
                <a:spcPts val="1000"/>
              </a:spcBef>
              <a:spcAft>
                <a:spcPts val="0"/>
              </a:spcAft>
              <a:buNone/>
            </a:pPr>
            <a:r>
              <a:rPr lang="en" sz="1200">
                <a:latin typeface="Sora Light"/>
                <a:ea typeface="Sora Light"/>
                <a:cs typeface="Sora Light"/>
                <a:sym typeface="Sora Light"/>
              </a:rPr>
              <a:t>Got another question sometime after the appointment</a:t>
            </a:r>
            <a:endParaRPr sz="1200">
              <a:latin typeface="Sora Light"/>
              <a:ea typeface="Sora Light"/>
              <a:cs typeface="Sora Light"/>
              <a:sym typeface="Sora Light"/>
            </a:endParaRPr>
          </a:p>
          <a:p>
            <a:pPr indent="457200" lvl="0" marL="0" rtl="0" algn="l">
              <a:spcBef>
                <a:spcPts val="1000"/>
              </a:spcBef>
              <a:spcAft>
                <a:spcPts val="0"/>
              </a:spcAft>
              <a:buNone/>
            </a:pPr>
            <a:r>
              <a:t/>
            </a:r>
            <a:endParaRPr sz="1200">
              <a:latin typeface="Sora Light"/>
              <a:ea typeface="Sora Light"/>
              <a:cs typeface="Sora Light"/>
              <a:sym typeface="Sora Light"/>
            </a:endParaRPr>
          </a:p>
          <a:p>
            <a:pPr indent="0" lvl="0" marL="0" rtl="0" algn="l">
              <a:spcBef>
                <a:spcPts val="1000"/>
              </a:spcBef>
              <a:spcAft>
                <a:spcPts val="1000"/>
              </a:spcAft>
              <a:buNone/>
            </a:pPr>
            <a:r>
              <a:t/>
            </a:r>
            <a:endParaRPr sz="1200">
              <a:latin typeface="Sora Light"/>
              <a:ea typeface="Sora Light"/>
              <a:cs typeface="Sora Light"/>
              <a:sym typeface="Sora Light"/>
            </a:endParaRPr>
          </a:p>
        </p:txBody>
      </p:sp>
      <p:sp>
        <p:nvSpPr>
          <p:cNvPr id="946" name="Google Shape;946;p56"/>
          <p:cNvSpPr txBox="1"/>
          <p:nvPr>
            <p:ph idx="2" type="title"/>
          </p:nvPr>
        </p:nvSpPr>
        <p:spPr>
          <a:xfrm>
            <a:off x="107575" y="376475"/>
            <a:ext cx="6507000" cy="695400"/>
          </a:xfrm>
          <a:prstGeom prst="rect">
            <a:avLst/>
          </a:prstGeom>
        </p:spPr>
        <p:txBody>
          <a:bodyPr anchorCtr="0" anchor="t" bIns="91425" lIns="91425" spcFirstLastPara="1" rIns="91425" wrap="square" tIns="0">
            <a:noAutofit/>
          </a:bodyPr>
          <a:lstStyle/>
          <a:p>
            <a:pPr indent="0" lvl="0" marL="0" rtl="0" algn="l">
              <a:lnSpc>
                <a:spcPct val="80000"/>
              </a:lnSpc>
              <a:spcBef>
                <a:spcPts val="0"/>
              </a:spcBef>
              <a:spcAft>
                <a:spcPts val="0"/>
              </a:spcAft>
              <a:buNone/>
            </a:pPr>
            <a:r>
              <a:rPr lang="en"/>
              <a:t>Problem?	</a:t>
            </a:r>
            <a:endParaRPr/>
          </a:p>
        </p:txBody>
      </p:sp>
      <p:sp>
        <p:nvSpPr>
          <p:cNvPr id="947" name="Google Shape;947;p5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ATGS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5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ATGS</a:t>
            </a:r>
            <a:endParaRPr/>
          </a:p>
          <a:p>
            <a:pPr indent="0" lvl="0" marL="0" rtl="0" algn="l">
              <a:spcBef>
                <a:spcPts val="0"/>
              </a:spcBef>
              <a:spcAft>
                <a:spcPts val="0"/>
              </a:spcAft>
              <a:buNone/>
            </a:pPr>
            <a:r>
              <a:t/>
            </a:r>
            <a:endParaRPr/>
          </a:p>
        </p:txBody>
      </p:sp>
      <p:sp>
        <p:nvSpPr>
          <p:cNvPr id="953" name="Google Shape;953;p57"/>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solution</a:t>
            </a:r>
            <a:endParaRPr/>
          </a:p>
        </p:txBody>
      </p:sp>
      <p:sp>
        <p:nvSpPr>
          <p:cNvPr id="954" name="Google Shape;954;p57"/>
          <p:cNvSpPr txBox="1"/>
          <p:nvPr>
            <p:ph idx="1" type="body"/>
          </p:nvPr>
        </p:nvSpPr>
        <p:spPr>
          <a:xfrm>
            <a:off x="1621500" y="502775"/>
            <a:ext cx="5369100" cy="18297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Introducing ATGS:</a:t>
            </a:r>
            <a:endParaRPr/>
          </a:p>
          <a:p>
            <a:pPr indent="0" lvl="0" marL="0" rtl="0" algn="l">
              <a:spcBef>
                <a:spcPts val="800"/>
              </a:spcBef>
              <a:spcAft>
                <a:spcPts val="800"/>
              </a:spcAft>
              <a:buNone/>
            </a:pPr>
            <a:r>
              <a:rPr lang="en"/>
              <a:t>Academic Ticketing and Graduation System</a:t>
            </a:r>
            <a:endParaRPr/>
          </a:p>
        </p:txBody>
      </p:sp>
      <p:sp>
        <p:nvSpPr>
          <p:cNvPr id="955" name="Google Shape;955;p57"/>
          <p:cNvSpPr txBox="1"/>
          <p:nvPr>
            <p:ph idx="4294967295" type="subTitle"/>
          </p:nvPr>
        </p:nvSpPr>
        <p:spPr>
          <a:xfrm>
            <a:off x="331800" y="2374500"/>
            <a:ext cx="4183800" cy="2587200"/>
          </a:xfrm>
          <a:prstGeom prst="rect">
            <a:avLst/>
          </a:prstGeom>
        </p:spPr>
        <p:txBody>
          <a:bodyPr anchorCtr="0" anchor="b" bIns="91425" lIns="91425" spcFirstLastPara="1" rIns="91425" wrap="square" tIns="91425">
            <a:noAutofit/>
          </a:bodyPr>
          <a:lstStyle/>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Streamlines the advising process for both students and advisors.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Enables faster and easier student access to advising support.</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Increases advisor efficiency by reducing unnecessary appointments.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Allows quick responses through email-based ticketing.</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Helps the Office of Academic Advising monitor advisor performance and resource use.</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Includes a </a:t>
            </a:r>
            <a:r>
              <a:rPr b="1" lang="en" sz="1100">
                <a:solidFill>
                  <a:srgbClr val="000000"/>
                </a:solidFill>
                <a:latin typeface="Arial"/>
                <a:ea typeface="Arial"/>
                <a:cs typeface="Arial"/>
                <a:sym typeface="Arial"/>
              </a:rPr>
              <a:t>graduation planner</a:t>
            </a:r>
            <a:r>
              <a:rPr lang="en" sz="1100">
                <a:solidFill>
                  <a:srgbClr val="000000"/>
                </a:solidFill>
                <a:latin typeface="Arial"/>
                <a:ea typeface="Arial"/>
                <a:cs typeface="Arial"/>
                <a:sym typeface="Arial"/>
              </a:rPr>
              <a:t> to automate and simplify degree planning, saving time for both students and advisors.</a:t>
            </a:r>
            <a:endParaRPr sz="1000">
              <a:latin typeface="Sora Light"/>
              <a:ea typeface="Sora Light"/>
              <a:cs typeface="Sora Light"/>
              <a:sym typeface="Sora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58"/>
          <p:cNvSpPr/>
          <p:nvPr/>
        </p:nvSpPr>
        <p:spPr>
          <a:xfrm>
            <a:off x="6450463" y="1068125"/>
            <a:ext cx="2006700" cy="34779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1" name="Google Shape;961;p58"/>
          <p:cNvSpPr/>
          <p:nvPr/>
        </p:nvSpPr>
        <p:spPr>
          <a:xfrm>
            <a:off x="2721150" y="1068125"/>
            <a:ext cx="2006700" cy="34779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2" name="Google Shape;962;p58"/>
          <p:cNvSpPr/>
          <p:nvPr/>
        </p:nvSpPr>
        <p:spPr>
          <a:xfrm>
            <a:off x="4577544" y="1068125"/>
            <a:ext cx="2006700" cy="34779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3" name="Google Shape;963;p58"/>
          <p:cNvSpPr/>
          <p:nvPr/>
        </p:nvSpPr>
        <p:spPr>
          <a:xfrm>
            <a:off x="857838" y="1068125"/>
            <a:ext cx="2006700" cy="34779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4" name="Google Shape;964;p58"/>
          <p:cNvSpPr/>
          <p:nvPr/>
        </p:nvSpPr>
        <p:spPr>
          <a:xfrm>
            <a:off x="6450481" y="1068125"/>
            <a:ext cx="2006700" cy="3477900"/>
          </a:xfrm>
          <a:prstGeom prst="roundRect">
            <a:avLst>
              <a:gd fmla="val 50000" name="adj"/>
            </a:avLst>
          </a:prstGeom>
          <a:gradFill>
            <a:gsLst>
              <a:gs pos="0">
                <a:schemeClr val="accent3"/>
              </a:gs>
              <a:gs pos="77000">
                <a:schemeClr val="accent1"/>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ra"/>
              <a:ea typeface="Sora"/>
              <a:cs typeface="Sora"/>
              <a:sym typeface="Sora"/>
            </a:endParaRPr>
          </a:p>
        </p:txBody>
      </p:sp>
      <p:sp>
        <p:nvSpPr>
          <p:cNvPr id="965" name="Google Shape;965;p58"/>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objectives</a:t>
            </a:r>
            <a:endParaRPr/>
          </a:p>
        </p:txBody>
      </p:sp>
      <p:sp>
        <p:nvSpPr>
          <p:cNvPr id="966" name="Google Shape;966;p58"/>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this will help our students and advisors</a:t>
            </a:r>
            <a:endParaRPr/>
          </a:p>
        </p:txBody>
      </p:sp>
      <p:sp>
        <p:nvSpPr>
          <p:cNvPr id="967" name="Google Shape;967;p58"/>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more questions</a:t>
            </a:r>
            <a:endParaRPr>
              <a:solidFill>
                <a:schemeClr val="accent3"/>
              </a:solidFill>
            </a:endParaRPr>
          </a:p>
        </p:txBody>
      </p:sp>
      <p:sp>
        <p:nvSpPr>
          <p:cNvPr id="968" name="Google Shape;968;p58"/>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a:t>
            </a:r>
            <a:r>
              <a:rPr lang="en"/>
              <a:t>ticketing system will allow students to more easily ask their questions and get  quicker answers.	</a:t>
            </a:r>
            <a:endParaRPr/>
          </a:p>
        </p:txBody>
      </p:sp>
      <p:sp>
        <p:nvSpPr>
          <p:cNvPr id="969" name="Google Shape;969;p58"/>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ATGS</a:t>
            </a:r>
            <a:endParaRPr/>
          </a:p>
        </p:txBody>
      </p:sp>
      <p:sp>
        <p:nvSpPr>
          <p:cNvPr id="970" name="Google Shape;970;p58"/>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Less effort</a:t>
            </a:r>
            <a:endParaRPr>
              <a:solidFill>
                <a:schemeClr val="accent3"/>
              </a:solidFill>
            </a:endParaRPr>
          </a:p>
        </p:txBody>
      </p:sp>
      <p:sp>
        <p:nvSpPr>
          <p:cNvPr id="971" name="Google Shape;971;p58"/>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Students don’t have to either go all the way to Tykeson Hall or free up their schedule to ask their questions or make a plan for graduation..</a:t>
            </a:r>
            <a:endParaRPr/>
          </a:p>
        </p:txBody>
      </p:sp>
      <p:sp>
        <p:nvSpPr>
          <p:cNvPr id="972" name="Google Shape;972;p58"/>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Full potential of advisors</a:t>
            </a:r>
            <a:endParaRPr>
              <a:solidFill>
                <a:schemeClr val="accent3"/>
              </a:solidFill>
            </a:endParaRPr>
          </a:p>
        </p:txBody>
      </p:sp>
      <p:sp>
        <p:nvSpPr>
          <p:cNvPr id="973" name="Google Shape;973;p58"/>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eliminating the </a:t>
            </a:r>
            <a:r>
              <a:rPr lang="en"/>
              <a:t>unnecessary</a:t>
            </a:r>
            <a:r>
              <a:rPr lang="en"/>
              <a:t> appointments, we improve the advisors; efficiency, save everyone more time and automate some tasks.</a:t>
            </a:r>
            <a:endParaRPr/>
          </a:p>
        </p:txBody>
      </p:sp>
      <p:sp>
        <p:nvSpPr>
          <p:cNvPr id="974" name="Google Shape;974;p58"/>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IBM Plex Sans SemiBold"/>
                <a:ea typeface="IBM Plex Sans SemiBold"/>
                <a:cs typeface="IBM Plex Sans SemiBold"/>
                <a:sym typeface="IBM Plex Sans SemiBold"/>
              </a:rPr>
              <a:t>Monitoring</a:t>
            </a:r>
            <a:endParaRPr>
              <a:solidFill>
                <a:schemeClr val="lt1"/>
              </a:solidFill>
              <a:latin typeface="IBM Plex Sans SemiBold"/>
              <a:ea typeface="IBM Plex Sans SemiBold"/>
              <a:cs typeface="IBM Plex Sans SemiBold"/>
              <a:sym typeface="IBM Plex Sans SemiBold"/>
            </a:endParaRPr>
          </a:p>
        </p:txBody>
      </p:sp>
      <p:sp>
        <p:nvSpPr>
          <p:cNvPr id="975" name="Google Shape;975;p58"/>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Sora"/>
                <a:ea typeface="Sora"/>
                <a:cs typeface="Sora"/>
                <a:sym typeface="Sora"/>
              </a:rPr>
              <a:t>With this ticketing system, the Office of Academic Advising will be able to monitor tickets to </a:t>
            </a:r>
            <a:r>
              <a:rPr lang="en">
                <a:solidFill>
                  <a:schemeClr val="lt1"/>
                </a:solidFill>
                <a:latin typeface="Sora"/>
                <a:ea typeface="Sora"/>
                <a:cs typeface="Sora"/>
                <a:sym typeface="Sora"/>
              </a:rPr>
              <a:t>improve</a:t>
            </a:r>
            <a:r>
              <a:rPr lang="en">
                <a:solidFill>
                  <a:schemeClr val="lt1"/>
                </a:solidFill>
                <a:latin typeface="Sora"/>
                <a:ea typeface="Sora"/>
                <a:cs typeface="Sora"/>
                <a:sym typeface="Sora"/>
              </a:rPr>
              <a:t> work quality and workflow. </a:t>
            </a:r>
            <a:endParaRPr>
              <a:solidFill>
                <a:schemeClr val="lt1"/>
              </a:solidFill>
              <a:latin typeface="Sora"/>
              <a:ea typeface="Sora"/>
              <a:cs typeface="Sora"/>
              <a:sym typeface="Sora"/>
            </a:endParaRPr>
          </a:p>
        </p:txBody>
      </p:sp>
      <p:sp>
        <p:nvSpPr>
          <p:cNvPr id="976" name="Google Shape;976;p58"/>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977" name="Google Shape;977;p58"/>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978" name="Google Shape;978;p58"/>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979" name="Google Shape;979;p58"/>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5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ATGS</a:t>
            </a:r>
            <a:endParaRPr/>
          </a:p>
        </p:txBody>
      </p:sp>
      <p:sp>
        <p:nvSpPr>
          <p:cNvPr id="985" name="Google Shape;985;p59"/>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IBM Plex Sans Medium"/>
                <a:ea typeface="IBM Plex Sans Medium"/>
                <a:cs typeface="IBM Plex Sans Medium"/>
                <a:sym typeface="IBM Plex Sans Medium"/>
              </a:rPr>
              <a:t>Week 2/3</a:t>
            </a:r>
            <a:endParaRPr>
              <a:latin typeface="IBM Plex Sans Medium"/>
              <a:ea typeface="IBM Plex Sans Medium"/>
              <a:cs typeface="IBM Plex Sans Medium"/>
              <a:sym typeface="IBM Plex Sans Medium"/>
            </a:endParaRPr>
          </a:p>
          <a:p>
            <a:pPr indent="0" lvl="0" marL="0" rtl="0" algn="l">
              <a:spcBef>
                <a:spcPts val="600"/>
              </a:spcBef>
              <a:spcAft>
                <a:spcPts val="0"/>
              </a:spcAft>
              <a:buNone/>
            </a:pPr>
            <a:r>
              <a:rPr lang="en" sz="1000"/>
              <a:t>Project Organization and Planning</a:t>
            </a:r>
            <a:endParaRPr sz="1000"/>
          </a:p>
          <a:p>
            <a:pPr indent="0" lvl="0" marL="0" rtl="0" algn="l">
              <a:spcBef>
                <a:spcPts val="600"/>
              </a:spcBef>
              <a:spcAft>
                <a:spcPts val="600"/>
              </a:spcAft>
              <a:buNone/>
            </a:pPr>
            <a:r>
              <a:t/>
            </a:r>
            <a:endParaRPr sz="1000"/>
          </a:p>
        </p:txBody>
      </p:sp>
      <p:sp>
        <p:nvSpPr>
          <p:cNvPr id="986" name="Google Shape;986;p59"/>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IBM Plex Sans Medium"/>
                <a:ea typeface="IBM Plex Sans Medium"/>
                <a:cs typeface="IBM Plex Sans Medium"/>
                <a:sym typeface="IBM Plex Sans Medium"/>
              </a:rPr>
              <a:t>Week 6</a:t>
            </a:r>
            <a:endParaRPr>
              <a:latin typeface="IBM Plex Sans Medium"/>
              <a:ea typeface="IBM Plex Sans Medium"/>
              <a:cs typeface="IBM Plex Sans Medium"/>
              <a:sym typeface="IBM Plex Sans Medium"/>
            </a:endParaRPr>
          </a:p>
          <a:p>
            <a:pPr indent="0" lvl="0" marL="0" rtl="0" algn="l">
              <a:spcBef>
                <a:spcPts val="600"/>
              </a:spcBef>
              <a:spcAft>
                <a:spcPts val="0"/>
              </a:spcAft>
              <a:buNone/>
            </a:pPr>
            <a:r>
              <a:rPr lang="en" sz="1000"/>
              <a:t>Advisor and Admin Dashboard Implementation</a:t>
            </a:r>
            <a:endParaRPr sz="1000"/>
          </a:p>
          <a:p>
            <a:pPr indent="0" lvl="0" marL="0" rtl="0" algn="l">
              <a:spcBef>
                <a:spcPts val="600"/>
              </a:spcBef>
              <a:spcAft>
                <a:spcPts val="600"/>
              </a:spcAft>
              <a:buNone/>
            </a:pPr>
            <a:r>
              <a:t/>
            </a:r>
            <a:endParaRPr sz="1000"/>
          </a:p>
        </p:txBody>
      </p:sp>
      <p:sp>
        <p:nvSpPr>
          <p:cNvPr id="987" name="Google Shape;987;p59"/>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IBM Plex Sans Medium"/>
                <a:ea typeface="IBM Plex Sans Medium"/>
                <a:cs typeface="IBM Plex Sans Medium"/>
                <a:sym typeface="IBM Plex Sans Medium"/>
              </a:rPr>
              <a:t>Week 6/7/8</a:t>
            </a:r>
            <a:endParaRPr>
              <a:latin typeface="IBM Plex Sans Medium"/>
              <a:ea typeface="IBM Plex Sans Medium"/>
              <a:cs typeface="IBM Plex Sans Medium"/>
              <a:sym typeface="IBM Plex Sans Medium"/>
            </a:endParaRPr>
          </a:p>
          <a:p>
            <a:pPr indent="0" lvl="0" marL="0" rtl="0" algn="l">
              <a:lnSpc>
                <a:spcPct val="100000"/>
              </a:lnSpc>
              <a:spcBef>
                <a:spcPts val="600"/>
              </a:spcBef>
              <a:spcAft>
                <a:spcPts val="0"/>
              </a:spcAft>
              <a:buNone/>
            </a:pPr>
            <a:r>
              <a:rPr lang="en" sz="1000"/>
              <a:t>Graduation Planner Implementation</a:t>
            </a:r>
            <a:endParaRPr sz="1000"/>
          </a:p>
          <a:p>
            <a:pPr indent="0" lvl="0" marL="0" rtl="0" algn="l">
              <a:spcBef>
                <a:spcPts val="0"/>
              </a:spcBef>
              <a:spcAft>
                <a:spcPts val="0"/>
              </a:spcAft>
              <a:buNone/>
            </a:pPr>
            <a:r>
              <a:t/>
            </a:r>
            <a:endParaRPr sz="1000"/>
          </a:p>
          <a:p>
            <a:pPr indent="0" lvl="0" marL="0" rtl="0" algn="l">
              <a:spcBef>
                <a:spcPts val="600"/>
              </a:spcBef>
              <a:spcAft>
                <a:spcPts val="0"/>
              </a:spcAft>
              <a:buNone/>
            </a:pPr>
            <a:r>
              <a:t/>
            </a:r>
            <a:endParaRPr>
              <a:latin typeface="Sora Medium"/>
              <a:ea typeface="Sora Medium"/>
              <a:cs typeface="Sora Medium"/>
              <a:sym typeface="Sora Medium"/>
            </a:endParaRPr>
          </a:p>
        </p:txBody>
      </p:sp>
      <p:sp>
        <p:nvSpPr>
          <p:cNvPr id="988" name="Google Shape;988;p59"/>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IBM Plex Sans Medium"/>
                <a:ea typeface="IBM Plex Sans Medium"/>
                <a:cs typeface="IBM Plex Sans Medium"/>
                <a:sym typeface="IBM Plex Sans Medium"/>
              </a:rPr>
              <a:t>Week 9</a:t>
            </a:r>
            <a:endParaRPr>
              <a:latin typeface="IBM Plex Sans Medium"/>
              <a:ea typeface="IBM Plex Sans Medium"/>
              <a:cs typeface="IBM Plex Sans Medium"/>
              <a:sym typeface="IBM Plex Sans Medium"/>
            </a:endParaRPr>
          </a:p>
          <a:p>
            <a:pPr indent="0" lvl="0" marL="0" rtl="0" algn="l">
              <a:spcBef>
                <a:spcPts val="600"/>
              </a:spcBef>
              <a:spcAft>
                <a:spcPts val="0"/>
              </a:spcAft>
              <a:buNone/>
            </a:pPr>
            <a:r>
              <a:rPr lang="en" sz="1000"/>
              <a:t>Debugging, Testing, and Finishing Touches!</a:t>
            </a:r>
            <a:endParaRPr sz="1000"/>
          </a:p>
          <a:p>
            <a:pPr indent="0" lvl="0" marL="0" rtl="0" algn="l">
              <a:spcBef>
                <a:spcPts val="600"/>
              </a:spcBef>
              <a:spcAft>
                <a:spcPts val="600"/>
              </a:spcAft>
              <a:buNone/>
            </a:pPr>
            <a:r>
              <a:t/>
            </a:r>
            <a:endParaRPr sz="1000"/>
          </a:p>
        </p:txBody>
      </p:sp>
      <p:sp>
        <p:nvSpPr>
          <p:cNvPr id="989" name="Google Shape;989;p59"/>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Medium"/>
                <a:ea typeface="Sora Medium"/>
                <a:cs typeface="Sora Medium"/>
                <a:sym typeface="Sora Medium"/>
              </a:rPr>
              <a:t>Week 3/4</a:t>
            </a:r>
            <a:endParaRPr>
              <a:latin typeface="Sora Medium"/>
              <a:ea typeface="Sora Medium"/>
              <a:cs typeface="Sora Medium"/>
              <a:sym typeface="Sora Medium"/>
            </a:endParaRPr>
          </a:p>
          <a:p>
            <a:pPr indent="0" lvl="0" marL="0" rtl="0" algn="l">
              <a:spcBef>
                <a:spcPts val="600"/>
              </a:spcBef>
              <a:spcAft>
                <a:spcPts val="0"/>
              </a:spcAft>
              <a:buNone/>
            </a:pPr>
            <a:r>
              <a:rPr lang="en" sz="1000"/>
              <a:t>Database and Authentication Implementation</a:t>
            </a:r>
            <a:endParaRPr sz="1000"/>
          </a:p>
          <a:p>
            <a:pPr indent="0" lvl="0" marL="0" rtl="0" algn="l">
              <a:spcBef>
                <a:spcPts val="600"/>
              </a:spcBef>
              <a:spcAft>
                <a:spcPts val="600"/>
              </a:spcAft>
              <a:buNone/>
            </a:pPr>
            <a:r>
              <a:t/>
            </a:r>
            <a:endParaRPr sz="1000"/>
          </a:p>
        </p:txBody>
      </p:sp>
      <p:sp>
        <p:nvSpPr>
          <p:cNvPr id="990" name="Google Shape;990;p59"/>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ra Medium"/>
                <a:ea typeface="Sora Medium"/>
                <a:cs typeface="Sora Medium"/>
                <a:sym typeface="Sora Medium"/>
              </a:rPr>
              <a:t>Week 4/5</a:t>
            </a:r>
            <a:endParaRPr>
              <a:latin typeface="Sora Medium"/>
              <a:ea typeface="Sora Medium"/>
              <a:cs typeface="Sora Medium"/>
              <a:sym typeface="Sora Medium"/>
            </a:endParaRPr>
          </a:p>
          <a:p>
            <a:pPr indent="0" lvl="0" marL="0" rtl="0" algn="l">
              <a:spcBef>
                <a:spcPts val="600"/>
              </a:spcBef>
              <a:spcAft>
                <a:spcPts val="600"/>
              </a:spcAft>
              <a:buNone/>
            </a:pPr>
            <a:r>
              <a:rPr lang="en" sz="1000"/>
              <a:t>Implement Core Ticketing Features</a:t>
            </a:r>
            <a:endParaRPr sz="1000"/>
          </a:p>
        </p:txBody>
      </p:sp>
      <p:sp>
        <p:nvSpPr>
          <p:cNvPr id="991" name="Google Shape;991;p59"/>
          <p:cNvSpPr txBox="1"/>
          <p:nvPr>
            <p:ph idx="2" type="title"/>
          </p:nvPr>
        </p:nvSpPr>
        <p:spPr>
          <a:xfrm>
            <a:off x="115025" y="502775"/>
            <a:ext cx="5400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Project roadmap</a:t>
            </a:r>
            <a:endParaRPr/>
          </a:p>
        </p:txBody>
      </p:sp>
      <p:sp>
        <p:nvSpPr>
          <p:cNvPr id="992" name="Google Shape;992;p59"/>
          <p:cNvSpPr/>
          <p:nvPr/>
        </p:nvSpPr>
        <p:spPr>
          <a:xfrm>
            <a:off x="750" y="2943425"/>
            <a:ext cx="1669500" cy="3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3" name="Google Shape;993;p59"/>
          <p:cNvSpPr/>
          <p:nvPr/>
        </p:nvSpPr>
        <p:spPr>
          <a:xfrm>
            <a:off x="1713600" y="2556600"/>
            <a:ext cx="1395000" cy="32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4" name="Google Shape;994;p59"/>
          <p:cNvSpPr/>
          <p:nvPr/>
        </p:nvSpPr>
        <p:spPr>
          <a:xfrm>
            <a:off x="3151800" y="2273950"/>
            <a:ext cx="1395000" cy="32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5" name="Google Shape;995;p59"/>
          <p:cNvSpPr/>
          <p:nvPr/>
        </p:nvSpPr>
        <p:spPr>
          <a:xfrm>
            <a:off x="4593600" y="1960500"/>
            <a:ext cx="1395000" cy="3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6" name="Google Shape;996;p59"/>
          <p:cNvSpPr/>
          <p:nvPr/>
        </p:nvSpPr>
        <p:spPr>
          <a:xfrm>
            <a:off x="6028350" y="1616400"/>
            <a:ext cx="1395000" cy="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7" name="Google Shape;997;p59"/>
          <p:cNvSpPr/>
          <p:nvPr/>
        </p:nvSpPr>
        <p:spPr>
          <a:xfrm>
            <a:off x="7473750" y="1245250"/>
            <a:ext cx="1669500" cy="32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60"/>
          <p:cNvSpPr txBox="1"/>
          <p:nvPr>
            <p:ph type="title"/>
          </p:nvPr>
        </p:nvSpPr>
        <p:spPr>
          <a:xfrm>
            <a:off x="2906700" y="1709075"/>
            <a:ext cx="1665300" cy="193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IBM Plex Sans Medium"/>
                <a:ea typeface="IBM Plex Sans Medium"/>
                <a:cs typeface="IBM Plex Sans Medium"/>
                <a:sym typeface="IBM Plex Sans Medium"/>
              </a:rPr>
              <a:t>Ticket Creation:</a:t>
            </a:r>
            <a:endParaRPr sz="1200">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a:latin typeface="Sora Light"/>
                <a:ea typeface="Sora Light"/>
                <a:cs typeface="Sora Light"/>
                <a:sym typeface="Sora Light"/>
              </a:rPr>
              <a:t>Students submit tickets describing academic or administrative issues (e.g., missing grades, transcript requests, or course registration problems).</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
        <p:nvSpPr>
          <p:cNvPr id="1003" name="Google Shape;1003;p60"/>
          <p:cNvSpPr txBox="1"/>
          <p:nvPr>
            <p:ph idx="2" type="title"/>
          </p:nvPr>
        </p:nvSpPr>
        <p:spPr>
          <a:xfrm>
            <a:off x="5926050" y="1709075"/>
            <a:ext cx="1665300" cy="193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IBM Plex Sans Medium"/>
                <a:ea typeface="IBM Plex Sans Medium"/>
                <a:cs typeface="IBM Plex Sans Medium"/>
                <a:sym typeface="IBM Plex Sans Medium"/>
              </a:rPr>
              <a:t>Tracking and Communication:</a:t>
            </a:r>
            <a:endParaRPr sz="1200">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a:latin typeface="Sora Light"/>
                <a:ea typeface="Sora Light"/>
                <a:cs typeface="Sora Light"/>
                <a:sym typeface="Sora Light"/>
              </a:rPr>
              <a:t>Students can track status updates (e.g., pending, in progress, resolved). Staff and students can exchange comments, attach supporting documents, or schedule a meeting.</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
        <p:nvSpPr>
          <p:cNvPr id="1004" name="Google Shape;1004;p60"/>
          <p:cNvSpPr txBox="1"/>
          <p:nvPr>
            <p:ph idx="3" type="title"/>
          </p:nvPr>
        </p:nvSpPr>
        <p:spPr>
          <a:xfrm>
            <a:off x="4415400" y="1709075"/>
            <a:ext cx="1665300" cy="193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IBM Plex Sans Medium"/>
                <a:ea typeface="IBM Plex Sans Medium"/>
                <a:cs typeface="IBM Plex Sans Medium"/>
                <a:sym typeface="IBM Plex Sans Medium"/>
              </a:rPr>
              <a:t>Ticket Assignment:</a:t>
            </a:r>
            <a:endParaRPr sz="1200">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a:latin typeface="Sora Light"/>
                <a:ea typeface="Sora Light"/>
                <a:cs typeface="Sora Light"/>
                <a:sym typeface="Sora Light"/>
              </a:rPr>
              <a:t>The system automatically routes the ticket to the appropriate department or staff member based on the issue type.</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
        <p:nvSpPr>
          <p:cNvPr id="1005" name="Google Shape;1005;p60"/>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p>
            <a:pPr indent="0" lvl="0" marL="0" rtl="0" algn="l">
              <a:spcBef>
                <a:spcPts val="0"/>
              </a:spcBef>
              <a:spcAft>
                <a:spcPts val="0"/>
              </a:spcAft>
              <a:buNone/>
            </a:pPr>
            <a:r>
              <a:rPr lang="en"/>
              <a:t>Modes of Operation</a:t>
            </a:r>
            <a:endParaRPr/>
          </a:p>
          <a:p>
            <a:pPr indent="0" lvl="0" marL="0" rtl="0" algn="l">
              <a:spcBef>
                <a:spcPts val="0"/>
              </a:spcBef>
              <a:spcAft>
                <a:spcPts val="0"/>
              </a:spcAft>
              <a:buNone/>
            </a:pPr>
            <a:r>
              <a:t/>
            </a:r>
            <a:endParaRPr/>
          </a:p>
        </p:txBody>
      </p:sp>
      <p:sp>
        <p:nvSpPr>
          <p:cNvPr id="1006" name="Google Shape;1006;p60"/>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ATGS</a:t>
            </a:r>
            <a:endParaRPr/>
          </a:p>
        </p:txBody>
      </p:sp>
      <p:sp>
        <p:nvSpPr>
          <p:cNvPr id="1007" name="Google Shape;1007;p60"/>
          <p:cNvSpPr/>
          <p:nvPr/>
        </p:nvSpPr>
        <p:spPr>
          <a:xfrm flipH="1" rot="10800000">
            <a:off x="3820750" y="1627625"/>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8" name="Google Shape;1008;p60"/>
          <p:cNvSpPr txBox="1"/>
          <p:nvPr/>
        </p:nvSpPr>
        <p:spPr>
          <a:xfrm>
            <a:off x="7511950" y="1709075"/>
            <a:ext cx="1530000" cy="266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lt1"/>
                </a:solidFill>
                <a:latin typeface="IBM Plex Sans Medium"/>
                <a:ea typeface="IBM Plex Sans Medium"/>
                <a:cs typeface="IBM Plex Sans Medium"/>
                <a:sym typeface="IBM Plex Sans Medium"/>
              </a:rPr>
              <a:t>Resolution and Closure:</a:t>
            </a:r>
            <a:endParaRPr sz="1200">
              <a:solidFill>
                <a:schemeClr val="lt1"/>
              </a:solidFill>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sz="1000">
                <a:solidFill>
                  <a:schemeClr val="lt1"/>
                </a:solidFill>
                <a:latin typeface="Sora Light"/>
                <a:ea typeface="Sora Light"/>
                <a:cs typeface="Sora Light"/>
                <a:sym typeface="Sora Light"/>
              </a:rPr>
              <a:t>Once the issue is resolved, staff mark the ticket as closed. Feedback is collected from the student for quality assurance.</a:t>
            </a:r>
            <a:endParaRPr sz="1000">
              <a:solidFill>
                <a:schemeClr val="lt1"/>
              </a:solidFill>
              <a:latin typeface="Sora Light"/>
              <a:ea typeface="Sora Light"/>
              <a:cs typeface="Sora Light"/>
              <a:sym typeface="Sora Light"/>
            </a:endParaRPr>
          </a:p>
          <a:p>
            <a:pPr indent="0" lvl="0" marL="0" rtl="0" algn="l">
              <a:lnSpc>
                <a:spcPct val="115000"/>
              </a:lnSpc>
              <a:spcBef>
                <a:spcPts val="600"/>
              </a:spcBef>
              <a:spcAft>
                <a:spcPts val="0"/>
              </a:spcAft>
              <a:buNone/>
            </a:pPr>
            <a:r>
              <a:t/>
            </a:r>
            <a:endParaRPr sz="1000">
              <a:solidFill>
                <a:schemeClr val="lt1"/>
              </a:solidFill>
              <a:latin typeface="Sora Light"/>
              <a:ea typeface="Sora Light"/>
              <a:cs typeface="Sora Light"/>
              <a:sym typeface="Sora Light"/>
            </a:endParaRPr>
          </a:p>
          <a:p>
            <a:pPr indent="0" lvl="0" marL="0" rtl="0" algn="l">
              <a:lnSpc>
                <a:spcPct val="115000"/>
              </a:lnSpc>
              <a:spcBef>
                <a:spcPts val="600"/>
              </a:spcBef>
              <a:spcAft>
                <a:spcPts val="0"/>
              </a:spcAft>
              <a:buNone/>
            </a:pPr>
            <a:r>
              <a:t/>
            </a:r>
            <a:endParaRPr sz="1000">
              <a:solidFill>
                <a:schemeClr val="lt1"/>
              </a:solidFill>
              <a:latin typeface="Sora Light"/>
              <a:ea typeface="Sora Light"/>
              <a:cs typeface="Sora Light"/>
              <a:sym typeface="Sora Light"/>
            </a:endParaRPr>
          </a:p>
          <a:p>
            <a:pPr indent="0" lvl="0" marL="0" rtl="0" algn="l">
              <a:lnSpc>
                <a:spcPct val="115000"/>
              </a:lnSpc>
              <a:spcBef>
                <a:spcPts val="600"/>
              </a:spcBef>
              <a:spcAft>
                <a:spcPts val="600"/>
              </a:spcAft>
              <a:buNone/>
            </a:pPr>
            <a:r>
              <a:t/>
            </a:r>
            <a:endParaRPr sz="1000">
              <a:solidFill>
                <a:schemeClr val="lt1"/>
              </a:solidFill>
              <a:latin typeface="Sora Light"/>
              <a:ea typeface="Sora Light"/>
              <a:cs typeface="Sora Light"/>
              <a:sym typeface="Sora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61"/>
          <p:cNvSpPr/>
          <p:nvPr/>
        </p:nvSpPr>
        <p:spPr>
          <a:xfrm flipH="1" rot="10800000">
            <a:off x="3820750" y="2732038"/>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4" name="Google Shape;1014;p61"/>
          <p:cNvSpPr/>
          <p:nvPr/>
        </p:nvSpPr>
        <p:spPr>
          <a:xfrm flipH="1" rot="10800000">
            <a:off x="3783550" y="4065788"/>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5" name="Google Shape;1015;p61"/>
          <p:cNvSpPr/>
          <p:nvPr/>
        </p:nvSpPr>
        <p:spPr>
          <a:xfrm>
            <a:off x="228600" y="2127275"/>
            <a:ext cx="739800" cy="41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ra"/>
              <a:ea typeface="Sora"/>
              <a:cs typeface="Sora"/>
              <a:sym typeface="Sora"/>
            </a:endParaRPr>
          </a:p>
        </p:txBody>
      </p:sp>
      <p:sp>
        <p:nvSpPr>
          <p:cNvPr id="1016" name="Google Shape;1016;p61"/>
          <p:cNvSpPr/>
          <p:nvPr/>
        </p:nvSpPr>
        <p:spPr>
          <a:xfrm>
            <a:off x="228600" y="2936226"/>
            <a:ext cx="739800" cy="41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ra"/>
              <a:ea typeface="Sora"/>
              <a:cs typeface="Sora"/>
              <a:sym typeface="Sora"/>
            </a:endParaRPr>
          </a:p>
        </p:txBody>
      </p:sp>
      <p:sp>
        <p:nvSpPr>
          <p:cNvPr id="1017" name="Google Shape;1017;p61"/>
          <p:cNvSpPr/>
          <p:nvPr/>
        </p:nvSpPr>
        <p:spPr>
          <a:xfrm>
            <a:off x="228600" y="4129627"/>
            <a:ext cx="739800" cy="41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ra"/>
              <a:ea typeface="Sora"/>
              <a:cs typeface="Sora"/>
              <a:sym typeface="Sora"/>
            </a:endParaRPr>
          </a:p>
        </p:txBody>
      </p:sp>
      <p:sp>
        <p:nvSpPr>
          <p:cNvPr id="1018" name="Google Shape;1018;p61"/>
          <p:cNvSpPr/>
          <p:nvPr/>
        </p:nvSpPr>
        <p:spPr>
          <a:xfrm flipH="1" rot="10800000">
            <a:off x="3820750" y="1949113"/>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solidFill>
                <a:schemeClr val="lt1"/>
              </a:solidFill>
              <a:latin typeface="Sora"/>
              <a:ea typeface="Sora"/>
              <a:cs typeface="Sora"/>
              <a:sym typeface="Sora"/>
            </a:endParaRPr>
          </a:p>
        </p:txBody>
      </p:sp>
      <p:sp>
        <p:nvSpPr>
          <p:cNvPr id="1019" name="Google Shape;1019;p61"/>
          <p:cNvSpPr txBox="1"/>
          <p:nvPr>
            <p:ph idx="3" type="title"/>
          </p:nvPr>
        </p:nvSpPr>
        <p:spPr>
          <a:xfrm>
            <a:off x="1038600" y="1992625"/>
            <a:ext cx="2911800" cy="868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00"/>
              <a:t>Preconditions</a:t>
            </a:r>
            <a:endParaRPr b="1" sz="800"/>
          </a:p>
          <a:p>
            <a:pPr indent="-273050" lvl="0" marL="457200" rtl="0" algn="l">
              <a:lnSpc>
                <a:spcPct val="115000"/>
              </a:lnSpc>
              <a:spcBef>
                <a:spcPts val="0"/>
              </a:spcBef>
              <a:spcAft>
                <a:spcPts val="0"/>
              </a:spcAft>
              <a:buSzPts val="700"/>
              <a:buChar char="●"/>
            </a:pPr>
            <a:r>
              <a:rPr lang="en" sz="700"/>
              <a:t>The student is a UO student with an active DuckID</a:t>
            </a:r>
            <a:endParaRPr sz="700"/>
          </a:p>
          <a:p>
            <a:pPr indent="-273050" lvl="0" marL="457200" rtl="0" algn="l">
              <a:lnSpc>
                <a:spcPct val="115000"/>
              </a:lnSpc>
              <a:spcBef>
                <a:spcPts val="0"/>
              </a:spcBef>
              <a:spcAft>
                <a:spcPts val="0"/>
              </a:spcAft>
              <a:buSzPts val="700"/>
              <a:buChar char="●"/>
            </a:pPr>
            <a:r>
              <a:rPr lang="en" sz="700"/>
              <a:t>The student can access the internet through an internet browser</a:t>
            </a:r>
            <a:endParaRPr sz="700"/>
          </a:p>
          <a:p>
            <a:pPr indent="-273050" lvl="0" marL="457200" rtl="0" algn="l">
              <a:lnSpc>
                <a:spcPct val="115000"/>
              </a:lnSpc>
              <a:spcBef>
                <a:spcPts val="0"/>
              </a:spcBef>
              <a:spcAft>
                <a:spcPts val="0"/>
              </a:spcAft>
              <a:buSzPts val="700"/>
              <a:buChar char="●"/>
            </a:pPr>
            <a:r>
              <a:rPr lang="en" sz="700"/>
              <a:t>The student is logged in through the UO login</a:t>
            </a:r>
            <a:endParaRPr sz="700"/>
          </a:p>
          <a:p>
            <a:pPr indent="0" lvl="0" marL="0" rtl="0" algn="l">
              <a:lnSpc>
                <a:spcPct val="115000"/>
              </a:lnSpc>
              <a:spcBef>
                <a:spcPts val="0"/>
              </a:spcBef>
              <a:spcAft>
                <a:spcPts val="0"/>
              </a:spcAft>
              <a:buNone/>
            </a:pPr>
            <a:r>
              <a:t/>
            </a:r>
            <a:endParaRPr sz="800"/>
          </a:p>
        </p:txBody>
      </p:sp>
      <p:sp>
        <p:nvSpPr>
          <p:cNvPr id="1020" name="Google Shape;1020;p61"/>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a:latin typeface="IBM Plex Sans Medium"/>
                <a:ea typeface="IBM Plex Sans Medium"/>
                <a:cs typeface="IBM Plex Sans Medium"/>
                <a:sym typeface="IBM Plex Sans Medium"/>
              </a:rPr>
              <a:t>Student Submits a Ticket</a:t>
            </a:r>
            <a:endParaRPr>
              <a:latin typeface="IBM Plex Sans Medium"/>
              <a:ea typeface="IBM Plex Sans Medium"/>
              <a:cs typeface="IBM Plex Sans Medium"/>
              <a:sym typeface="IBM Plex Sans Medium"/>
            </a:endParaRPr>
          </a:p>
        </p:txBody>
      </p:sp>
      <p:sp>
        <p:nvSpPr>
          <p:cNvPr id="1021" name="Google Shape;1021;p61"/>
          <p:cNvSpPr txBox="1"/>
          <p:nvPr>
            <p:ph idx="2" type="title"/>
          </p:nvPr>
        </p:nvSpPr>
        <p:spPr>
          <a:xfrm>
            <a:off x="4784225" y="1526963"/>
            <a:ext cx="2197500" cy="402000"/>
          </a:xfrm>
          <a:prstGeom prst="rect">
            <a:avLst/>
          </a:prstGeom>
        </p:spPr>
        <p:txBody>
          <a:bodyPr anchorCtr="0" anchor="b" bIns="91425" lIns="0" spcFirstLastPara="1" rIns="91425" wrap="square" tIns="91425">
            <a:noAutofit/>
          </a:bodyPr>
          <a:lstStyle/>
          <a:p>
            <a:pPr indent="0" lvl="0" marL="0" rtl="0" algn="l">
              <a:lnSpc>
                <a:spcPct val="115000"/>
              </a:lnSpc>
              <a:spcBef>
                <a:spcPts val="0"/>
              </a:spcBef>
              <a:spcAft>
                <a:spcPts val="0"/>
              </a:spcAft>
              <a:buNone/>
            </a:pPr>
            <a:r>
              <a:rPr lang="en">
                <a:latin typeface="IBM Plex Sans Medium"/>
                <a:ea typeface="IBM Plex Sans Medium"/>
                <a:cs typeface="IBM Plex Sans Medium"/>
                <a:sym typeface="IBM Plex Sans Medium"/>
              </a:rPr>
              <a:t>User Responds to a Ticket</a:t>
            </a:r>
            <a:endParaRPr>
              <a:latin typeface="IBM Plex Sans Medium"/>
              <a:ea typeface="IBM Plex Sans Medium"/>
              <a:cs typeface="IBM Plex Sans Medium"/>
              <a:sym typeface="IBM Plex Sans Medium"/>
            </a:endParaRPr>
          </a:p>
        </p:txBody>
      </p:sp>
      <p:sp>
        <p:nvSpPr>
          <p:cNvPr id="1022" name="Google Shape;1022;p61"/>
          <p:cNvSpPr txBox="1"/>
          <p:nvPr>
            <p:ph idx="4" type="title"/>
          </p:nvPr>
        </p:nvSpPr>
        <p:spPr>
          <a:xfrm>
            <a:off x="1038600" y="2801525"/>
            <a:ext cx="2911800" cy="1363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00"/>
              <a:t>Steps to complete:</a:t>
            </a:r>
            <a:endParaRPr b="1" sz="800"/>
          </a:p>
          <a:p>
            <a:pPr indent="-279400" lvl="0" marL="457200" rtl="0" algn="l">
              <a:lnSpc>
                <a:spcPct val="115000"/>
              </a:lnSpc>
              <a:spcBef>
                <a:spcPts val="0"/>
              </a:spcBef>
              <a:spcAft>
                <a:spcPts val="0"/>
              </a:spcAft>
              <a:buSzPts val="800"/>
              <a:buAutoNum type="arabicPeriod"/>
            </a:pPr>
            <a:r>
              <a:rPr lang="en" sz="800"/>
              <a:t>The Student heads to our website</a:t>
            </a:r>
            <a:endParaRPr sz="800"/>
          </a:p>
          <a:p>
            <a:pPr indent="-279400" lvl="0" marL="457200" rtl="0" algn="l">
              <a:lnSpc>
                <a:spcPct val="115000"/>
              </a:lnSpc>
              <a:spcBef>
                <a:spcPts val="0"/>
              </a:spcBef>
              <a:spcAft>
                <a:spcPts val="0"/>
              </a:spcAft>
              <a:buSzPts val="800"/>
              <a:buAutoNum type="arabicPeriod"/>
            </a:pPr>
            <a:r>
              <a:rPr lang="en" sz="800"/>
              <a:t>After logging in, they press the new ticket button</a:t>
            </a:r>
            <a:endParaRPr sz="800"/>
          </a:p>
          <a:p>
            <a:pPr indent="-279400" lvl="0" marL="457200" rtl="0" algn="l">
              <a:lnSpc>
                <a:spcPct val="115000"/>
              </a:lnSpc>
              <a:spcBef>
                <a:spcPts val="0"/>
              </a:spcBef>
              <a:spcAft>
                <a:spcPts val="0"/>
              </a:spcAft>
              <a:buSzPts val="800"/>
              <a:buAutoNum type="arabicPeriod"/>
            </a:pPr>
            <a:r>
              <a:rPr lang="en" sz="800"/>
              <a:t>In the newly opened window, they fill out the form with their questions and required fields</a:t>
            </a:r>
            <a:endParaRPr sz="800"/>
          </a:p>
          <a:p>
            <a:pPr indent="-279400" lvl="0" marL="457200" rtl="0" algn="l">
              <a:lnSpc>
                <a:spcPct val="115000"/>
              </a:lnSpc>
              <a:spcBef>
                <a:spcPts val="0"/>
              </a:spcBef>
              <a:spcAft>
                <a:spcPts val="0"/>
              </a:spcAft>
              <a:buSzPts val="800"/>
              <a:buAutoNum type="arabicPeriod"/>
            </a:pPr>
            <a:r>
              <a:rPr lang="en" sz="800"/>
              <a:t>Press submit</a:t>
            </a:r>
            <a:endParaRPr sz="800"/>
          </a:p>
          <a:p>
            <a:pPr indent="0" lvl="0" marL="457200" rtl="0" algn="l">
              <a:lnSpc>
                <a:spcPct val="115000"/>
              </a:lnSpc>
              <a:spcBef>
                <a:spcPts val="0"/>
              </a:spcBef>
              <a:spcAft>
                <a:spcPts val="0"/>
              </a:spcAft>
              <a:buNone/>
            </a:pPr>
            <a:r>
              <a:t/>
            </a:r>
            <a:endParaRPr sz="800"/>
          </a:p>
        </p:txBody>
      </p:sp>
      <p:sp>
        <p:nvSpPr>
          <p:cNvPr id="1023" name="Google Shape;1023;p61"/>
          <p:cNvSpPr txBox="1"/>
          <p:nvPr>
            <p:ph idx="5" type="title"/>
          </p:nvPr>
        </p:nvSpPr>
        <p:spPr>
          <a:xfrm>
            <a:off x="1038600" y="4065800"/>
            <a:ext cx="2911800" cy="688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00"/>
              <a:t>Postconditions:</a:t>
            </a:r>
            <a:endParaRPr b="1" sz="800"/>
          </a:p>
          <a:p>
            <a:pPr indent="0" lvl="0" marL="0" rtl="0" algn="l">
              <a:lnSpc>
                <a:spcPct val="115000"/>
              </a:lnSpc>
              <a:spcBef>
                <a:spcPts val="0"/>
              </a:spcBef>
              <a:spcAft>
                <a:spcPts val="0"/>
              </a:spcAft>
              <a:buNone/>
            </a:pPr>
            <a:r>
              <a:rPr lang="en" sz="800"/>
              <a:t>The student is provided with a page where they can see the ticket they just made with their ticket number</a:t>
            </a:r>
            <a:endParaRPr sz="800"/>
          </a:p>
        </p:txBody>
      </p:sp>
      <p:sp>
        <p:nvSpPr>
          <p:cNvPr id="1024" name="Google Shape;1024;p61"/>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ATGS</a:t>
            </a:r>
            <a:endParaRPr/>
          </a:p>
        </p:txBody>
      </p:sp>
      <p:sp>
        <p:nvSpPr>
          <p:cNvPr id="1025" name="Google Shape;1025;p61"/>
          <p:cNvSpPr txBox="1"/>
          <p:nvPr>
            <p:ph idx="13" type="title"/>
          </p:nvPr>
        </p:nvSpPr>
        <p:spPr>
          <a:xfrm>
            <a:off x="115025" y="502775"/>
            <a:ext cx="64404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Operational Scenarios</a:t>
            </a:r>
            <a:endParaRPr/>
          </a:p>
        </p:txBody>
      </p:sp>
      <p:sp>
        <p:nvSpPr>
          <p:cNvPr id="1026" name="Google Shape;1026;p61"/>
          <p:cNvSpPr txBox="1"/>
          <p:nvPr>
            <p:ph idx="14" type="title"/>
          </p:nvPr>
        </p:nvSpPr>
        <p:spPr>
          <a:xfrm>
            <a:off x="228600" y="2127325"/>
            <a:ext cx="739800" cy="41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027" name="Google Shape;1027;p61"/>
          <p:cNvSpPr txBox="1"/>
          <p:nvPr>
            <p:ph idx="16" type="title"/>
          </p:nvPr>
        </p:nvSpPr>
        <p:spPr>
          <a:xfrm>
            <a:off x="228600" y="2936225"/>
            <a:ext cx="739800" cy="41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028" name="Google Shape;1028;p61"/>
          <p:cNvSpPr txBox="1"/>
          <p:nvPr>
            <p:ph idx="17" type="title"/>
          </p:nvPr>
        </p:nvSpPr>
        <p:spPr>
          <a:xfrm>
            <a:off x="228600" y="4129625"/>
            <a:ext cx="739800" cy="41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029" name="Google Shape;1029;p61"/>
          <p:cNvSpPr txBox="1"/>
          <p:nvPr>
            <p:ph idx="3" type="title"/>
          </p:nvPr>
        </p:nvSpPr>
        <p:spPr>
          <a:xfrm>
            <a:off x="4357075" y="1992625"/>
            <a:ext cx="2911800" cy="868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00"/>
              <a:t>Preconditions</a:t>
            </a:r>
            <a:endParaRPr b="1" sz="800"/>
          </a:p>
          <a:p>
            <a:pPr indent="-273050" lvl="0" marL="457200" rtl="0" algn="l">
              <a:lnSpc>
                <a:spcPct val="115000"/>
              </a:lnSpc>
              <a:spcBef>
                <a:spcPts val="0"/>
              </a:spcBef>
              <a:spcAft>
                <a:spcPts val="0"/>
              </a:spcAft>
              <a:buSzPts val="700"/>
              <a:buChar char="●"/>
            </a:pPr>
            <a:r>
              <a:rPr lang="en" sz="700"/>
              <a:t>The user is assumed to have an active DuckID</a:t>
            </a:r>
            <a:endParaRPr sz="700"/>
          </a:p>
          <a:p>
            <a:pPr indent="-273050" lvl="0" marL="457200" rtl="0" algn="l">
              <a:lnSpc>
                <a:spcPct val="115000"/>
              </a:lnSpc>
              <a:spcBef>
                <a:spcPts val="0"/>
              </a:spcBef>
              <a:spcAft>
                <a:spcPts val="0"/>
              </a:spcAft>
              <a:buSzPts val="700"/>
              <a:buChar char="●"/>
            </a:pPr>
            <a:r>
              <a:rPr lang="en" sz="700"/>
              <a:t>The User can access the internet through an internet browser</a:t>
            </a:r>
            <a:endParaRPr sz="700"/>
          </a:p>
          <a:p>
            <a:pPr indent="-273050" lvl="0" marL="457200" rtl="0" algn="l">
              <a:lnSpc>
                <a:spcPct val="115000"/>
              </a:lnSpc>
              <a:spcBef>
                <a:spcPts val="0"/>
              </a:spcBef>
              <a:spcAft>
                <a:spcPts val="0"/>
              </a:spcAft>
              <a:buSzPts val="700"/>
              <a:buChar char="●"/>
            </a:pPr>
            <a:r>
              <a:rPr lang="en" sz="700"/>
              <a:t>The User has access to at least a ticket</a:t>
            </a:r>
            <a:endParaRPr sz="700"/>
          </a:p>
          <a:p>
            <a:pPr indent="0" lvl="0" marL="457200" rtl="0" algn="l">
              <a:lnSpc>
                <a:spcPct val="115000"/>
              </a:lnSpc>
              <a:spcBef>
                <a:spcPts val="0"/>
              </a:spcBef>
              <a:spcAft>
                <a:spcPts val="0"/>
              </a:spcAft>
              <a:buNone/>
            </a:pPr>
            <a:r>
              <a:t/>
            </a:r>
            <a:endParaRPr sz="700"/>
          </a:p>
          <a:p>
            <a:pPr indent="0" lvl="0" marL="0" rtl="0" algn="l">
              <a:lnSpc>
                <a:spcPct val="115000"/>
              </a:lnSpc>
              <a:spcBef>
                <a:spcPts val="0"/>
              </a:spcBef>
              <a:spcAft>
                <a:spcPts val="0"/>
              </a:spcAft>
              <a:buNone/>
            </a:pPr>
            <a:r>
              <a:t/>
            </a:r>
            <a:endParaRPr sz="800"/>
          </a:p>
        </p:txBody>
      </p:sp>
      <p:sp>
        <p:nvSpPr>
          <p:cNvPr id="1030" name="Google Shape;1030;p61"/>
          <p:cNvSpPr txBox="1"/>
          <p:nvPr/>
        </p:nvSpPr>
        <p:spPr>
          <a:xfrm>
            <a:off x="4357075" y="2801525"/>
            <a:ext cx="3000000" cy="144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800">
                <a:solidFill>
                  <a:schemeClr val="lt1"/>
                </a:solidFill>
                <a:latin typeface="Sora"/>
                <a:ea typeface="Sora"/>
                <a:cs typeface="Sora"/>
                <a:sym typeface="Sora"/>
              </a:rPr>
              <a:t>Steps to complete:</a:t>
            </a:r>
            <a:endParaRPr b="1" sz="800">
              <a:solidFill>
                <a:schemeClr val="lt1"/>
              </a:solidFill>
              <a:latin typeface="Sora"/>
              <a:ea typeface="Sora"/>
              <a:cs typeface="Sora"/>
              <a:sym typeface="Sora"/>
            </a:endParaRPr>
          </a:p>
          <a:p>
            <a:pPr indent="-279400" lvl="0" marL="457200" rtl="0" algn="l">
              <a:lnSpc>
                <a:spcPct val="115000"/>
              </a:lnSpc>
              <a:spcBef>
                <a:spcPts val="0"/>
              </a:spcBef>
              <a:spcAft>
                <a:spcPts val="0"/>
              </a:spcAft>
              <a:buClr>
                <a:schemeClr val="lt1"/>
              </a:buClr>
              <a:buSzPts val="800"/>
              <a:buFont typeface="Sora"/>
              <a:buAutoNum type="arabicPeriod"/>
            </a:pPr>
            <a:r>
              <a:rPr lang="en" sz="800">
                <a:solidFill>
                  <a:schemeClr val="lt1"/>
                </a:solidFill>
                <a:latin typeface="Sora"/>
                <a:ea typeface="Sora"/>
                <a:cs typeface="Sora"/>
                <a:sym typeface="Sora"/>
              </a:rPr>
              <a:t>The User chooses the ticket they want to comment on and opens it</a:t>
            </a:r>
            <a:endParaRPr sz="800">
              <a:solidFill>
                <a:schemeClr val="lt1"/>
              </a:solidFill>
              <a:latin typeface="Sora"/>
              <a:ea typeface="Sora"/>
              <a:cs typeface="Sora"/>
              <a:sym typeface="Sora"/>
            </a:endParaRPr>
          </a:p>
          <a:p>
            <a:pPr indent="-279400" lvl="0" marL="457200" rtl="0" algn="l">
              <a:lnSpc>
                <a:spcPct val="115000"/>
              </a:lnSpc>
              <a:spcBef>
                <a:spcPts val="0"/>
              </a:spcBef>
              <a:spcAft>
                <a:spcPts val="0"/>
              </a:spcAft>
              <a:buClr>
                <a:schemeClr val="lt1"/>
              </a:buClr>
              <a:buSzPts val="800"/>
              <a:buFont typeface="Sora"/>
              <a:buAutoNum type="arabicPeriod"/>
            </a:pPr>
            <a:r>
              <a:rPr lang="en" sz="800">
                <a:solidFill>
                  <a:schemeClr val="lt1"/>
                </a:solidFill>
                <a:latin typeface="Sora"/>
                <a:ea typeface="Sora"/>
                <a:cs typeface="Sora"/>
                <a:sym typeface="Sora"/>
              </a:rPr>
              <a:t>They either choose another comment to reply to or want to make a new one</a:t>
            </a:r>
            <a:endParaRPr sz="800">
              <a:solidFill>
                <a:schemeClr val="lt1"/>
              </a:solidFill>
              <a:latin typeface="Sora"/>
              <a:ea typeface="Sora"/>
              <a:cs typeface="Sora"/>
              <a:sym typeface="Sora"/>
            </a:endParaRPr>
          </a:p>
          <a:p>
            <a:pPr indent="-279400" lvl="0" marL="457200" rtl="0" algn="l">
              <a:lnSpc>
                <a:spcPct val="115000"/>
              </a:lnSpc>
              <a:spcBef>
                <a:spcPts val="0"/>
              </a:spcBef>
              <a:spcAft>
                <a:spcPts val="0"/>
              </a:spcAft>
              <a:buClr>
                <a:schemeClr val="lt1"/>
              </a:buClr>
              <a:buSzPts val="800"/>
              <a:buFont typeface="Sora"/>
              <a:buAutoNum type="arabicPeriod"/>
            </a:pPr>
            <a:r>
              <a:rPr lang="en" sz="800">
                <a:solidFill>
                  <a:schemeClr val="lt1"/>
                </a:solidFill>
                <a:latin typeface="Sora"/>
                <a:ea typeface="Sora"/>
                <a:cs typeface="Sora"/>
                <a:sym typeface="Sora"/>
              </a:rPr>
              <a:t>Press the comment on the related comment</a:t>
            </a:r>
            <a:endParaRPr sz="800">
              <a:solidFill>
                <a:schemeClr val="lt1"/>
              </a:solidFill>
              <a:latin typeface="Sora"/>
              <a:ea typeface="Sora"/>
              <a:cs typeface="Sora"/>
              <a:sym typeface="Sora"/>
            </a:endParaRPr>
          </a:p>
          <a:p>
            <a:pPr indent="-279400" lvl="0" marL="457200" rtl="0" algn="l">
              <a:lnSpc>
                <a:spcPct val="115000"/>
              </a:lnSpc>
              <a:spcBef>
                <a:spcPts val="0"/>
              </a:spcBef>
              <a:spcAft>
                <a:spcPts val="0"/>
              </a:spcAft>
              <a:buClr>
                <a:schemeClr val="lt1"/>
              </a:buClr>
              <a:buSzPts val="800"/>
              <a:buFont typeface="Sora"/>
              <a:buAutoNum type="arabicPeriod"/>
            </a:pPr>
            <a:r>
              <a:rPr lang="en" sz="800">
                <a:solidFill>
                  <a:schemeClr val="lt1"/>
                </a:solidFill>
                <a:latin typeface="Sora"/>
                <a:ea typeface="Sora"/>
                <a:cs typeface="Sora"/>
                <a:sym typeface="Sora"/>
              </a:rPr>
              <a:t>Write out their comment or reply</a:t>
            </a:r>
            <a:endParaRPr sz="800">
              <a:solidFill>
                <a:schemeClr val="lt1"/>
              </a:solidFill>
              <a:latin typeface="Sora"/>
              <a:ea typeface="Sora"/>
              <a:cs typeface="Sora"/>
              <a:sym typeface="Sora"/>
            </a:endParaRPr>
          </a:p>
          <a:p>
            <a:pPr indent="-279400" lvl="0" marL="457200" rtl="0" algn="l">
              <a:lnSpc>
                <a:spcPct val="115000"/>
              </a:lnSpc>
              <a:spcBef>
                <a:spcPts val="0"/>
              </a:spcBef>
              <a:spcAft>
                <a:spcPts val="0"/>
              </a:spcAft>
              <a:buClr>
                <a:schemeClr val="lt1"/>
              </a:buClr>
              <a:buSzPts val="800"/>
              <a:buFont typeface="Sora"/>
              <a:buAutoNum type="arabicPeriod"/>
            </a:pPr>
            <a:r>
              <a:rPr lang="en" sz="800">
                <a:solidFill>
                  <a:schemeClr val="lt1"/>
                </a:solidFill>
                <a:latin typeface="Sora"/>
                <a:ea typeface="Sora"/>
                <a:cs typeface="Sora"/>
                <a:sym typeface="Sora"/>
              </a:rPr>
              <a:t>Press submit</a:t>
            </a:r>
            <a:endParaRPr sz="800">
              <a:solidFill>
                <a:schemeClr val="lt1"/>
              </a:solidFill>
              <a:latin typeface="Sora"/>
              <a:ea typeface="Sora"/>
              <a:cs typeface="Sora"/>
              <a:sym typeface="Sora"/>
            </a:endParaRPr>
          </a:p>
          <a:p>
            <a:pPr indent="0" lvl="0" marL="457200" rtl="0" algn="l">
              <a:lnSpc>
                <a:spcPct val="115000"/>
              </a:lnSpc>
              <a:spcBef>
                <a:spcPts val="0"/>
              </a:spcBef>
              <a:spcAft>
                <a:spcPts val="0"/>
              </a:spcAft>
              <a:buNone/>
            </a:pPr>
            <a:r>
              <a:t/>
            </a:r>
            <a:endParaRPr sz="800">
              <a:solidFill>
                <a:schemeClr val="lt1"/>
              </a:solidFill>
              <a:latin typeface="Sora"/>
              <a:ea typeface="Sora"/>
              <a:cs typeface="Sora"/>
              <a:sym typeface="Sora"/>
            </a:endParaRPr>
          </a:p>
        </p:txBody>
      </p:sp>
      <p:sp>
        <p:nvSpPr>
          <p:cNvPr id="1031" name="Google Shape;1031;p61"/>
          <p:cNvSpPr txBox="1"/>
          <p:nvPr/>
        </p:nvSpPr>
        <p:spPr>
          <a:xfrm>
            <a:off x="4357075" y="4065800"/>
            <a:ext cx="3000000" cy="87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800">
                <a:solidFill>
                  <a:schemeClr val="lt1"/>
                </a:solidFill>
                <a:latin typeface="Sora"/>
                <a:ea typeface="Sora"/>
                <a:cs typeface="Sora"/>
                <a:sym typeface="Sora"/>
              </a:rPr>
              <a:t>Postconditions:</a:t>
            </a:r>
            <a:endParaRPr b="1" sz="800">
              <a:solidFill>
                <a:schemeClr val="lt1"/>
              </a:solidFill>
              <a:latin typeface="Sora"/>
              <a:ea typeface="Sora"/>
              <a:cs typeface="Sora"/>
              <a:sym typeface="Sora"/>
            </a:endParaRPr>
          </a:p>
          <a:p>
            <a:pPr indent="0" lvl="0" marL="0" rtl="0" algn="l">
              <a:lnSpc>
                <a:spcPct val="115000"/>
              </a:lnSpc>
              <a:spcBef>
                <a:spcPts val="0"/>
              </a:spcBef>
              <a:spcAft>
                <a:spcPts val="0"/>
              </a:spcAft>
              <a:buNone/>
            </a:pPr>
            <a:r>
              <a:rPr lang="en" sz="800">
                <a:solidFill>
                  <a:schemeClr val="lt1"/>
                </a:solidFill>
                <a:latin typeface="Sora"/>
                <a:ea typeface="Sora"/>
                <a:cs typeface="Sora"/>
                <a:sym typeface="Sora"/>
              </a:rPr>
              <a:t>The user should see an instant update with their comment added to the ticket, and the status of the ticket should be updated and saved on the database. The user who was replied to should be notified.</a:t>
            </a:r>
            <a:endParaRPr sz="800">
              <a:solidFill>
                <a:schemeClr val="lt1"/>
              </a:solidFill>
              <a:latin typeface="Sora"/>
              <a:ea typeface="Sora"/>
              <a:cs typeface="Sora"/>
              <a:sym typeface="S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62"/>
          <p:cNvSpPr txBox="1"/>
          <p:nvPr>
            <p:ph idx="2" type="body"/>
          </p:nvPr>
        </p:nvSpPr>
        <p:spPr>
          <a:xfrm>
            <a:off x="3646325" y="827575"/>
            <a:ext cx="4513500" cy="394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IBM Plex Sans Medium"/>
                <a:ea typeface="IBM Plex Sans Medium"/>
                <a:cs typeface="IBM Plex Sans Medium"/>
                <a:sym typeface="IBM Plex Sans Medium"/>
              </a:rPr>
              <a:t>Reliability:</a:t>
            </a:r>
            <a:endParaRPr>
              <a:latin typeface="Sora Light"/>
              <a:ea typeface="Sora Light"/>
              <a:cs typeface="Sora Light"/>
              <a:sym typeface="Sora Light"/>
            </a:endParaRPr>
          </a:p>
          <a:p>
            <a:pPr indent="0" lvl="0" marL="0" rtl="0" algn="l">
              <a:spcBef>
                <a:spcPts val="800"/>
              </a:spcBef>
              <a:spcAft>
                <a:spcPts val="0"/>
              </a:spcAft>
              <a:buNone/>
            </a:pPr>
            <a:r>
              <a:rPr lang="en">
                <a:latin typeface="Sora Light"/>
                <a:ea typeface="Sora Light"/>
                <a:cs typeface="Sora Light"/>
                <a:sym typeface="Sora Light"/>
              </a:rPr>
              <a:t>99% uptime during academic terms.</a:t>
            </a:r>
            <a:endParaRPr>
              <a:latin typeface="Sora Light"/>
              <a:ea typeface="Sora Light"/>
              <a:cs typeface="Sora Light"/>
              <a:sym typeface="Sora Light"/>
            </a:endParaRPr>
          </a:p>
          <a:p>
            <a:pPr indent="0" lvl="0" marL="0" rtl="0" algn="l">
              <a:spcBef>
                <a:spcPts val="800"/>
              </a:spcBef>
              <a:spcAft>
                <a:spcPts val="0"/>
              </a:spcAft>
              <a:buNone/>
            </a:pPr>
            <a:r>
              <a:rPr lang="en" sz="1600">
                <a:latin typeface="IBM Plex Sans Medium"/>
                <a:ea typeface="IBM Plex Sans Medium"/>
                <a:cs typeface="IBM Plex Sans Medium"/>
                <a:sym typeface="IBM Plex Sans Medium"/>
              </a:rPr>
              <a:t>Security:</a:t>
            </a:r>
            <a:endParaRPr>
              <a:latin typeface="Sora Light"/>
              <a:ea typeface="Sora Light"/>
              <a:cs typeface="Sora Light"/>
              <a:sym typeface="Sora Light"/>
            </a:endParaRPr>
          </a:p>
          <a:p>
            <a:pPr indent="0" lvl="0" marL="0" rtl="0" algn="l">
              <a:spcBef>
                <a:spcPts val="800"/>
              </a:spcBef>
              <a:spcAft>
                <a:spcPts val="0"/>
              </a:spcAft>
              <a:buNone/>
            </a:pPr>
            <a:r>
              <a:rPr lang="en">
                <a:latin typeface="Sora Light"/>
                <a:ea typeface="Sora Light"/>
                <a:cs typeface="Sora Light"/>
                <a:sym typeface="Sora Light"/>
              </a:rPr>
              <a:t>Strong authentication and encrypted data storage and transfer.</a:t>
            </a:r>
            <a:endParaRPr>
              <a:latin typeface="Sora Light"/>
              <a:ea typeface="Sora Light"/>
              <a:cs typeface="Sora Light"/>
              <a:sym typeface="Sora Light"/>
            </a:endParaRPr>
          </a:p>
          <a:p>
            <a:pPr indent="0" lvl="0" marL="0" rtl="0" algn="l">
              <a:spcBef>
                <a:spcPts val="800"/>
              </a:spcBef>
              <a:spcAft>
                <a:spcPts val="0"/>
              </a:spcAft>
              <a:buNone/>
            </a:pPr>
            <a:r>
              <a:rPr lang="en" sz="1600">
                <a:latin typeface="IBM Plex Sans Medium"/>
                <a:ea typeface="IBM Plex Sans Medium"/>
                <a:cs typeface="IBM Plex Sans Medium"/>
                <a:sym typeface="IBM Plex Sans Medium"/>
              </a:rPr>
              <a:t>Maintainability:</a:t>
            </a:r>
            <a:endParaRPr sz="1600">
              <a:latin typeface="IBM Plex Sans Medium"/>
              <a:ea typeface="IBM Plex Sans Medium"/>
              <a:cs typeface="IBM Plex Sans Medium"/>
              <a:sym typeface="IBM Plex Sans Medium"/>
            </a:endParaRPr>
          </a:p>
          <a:p>
            <a:pPr indent="0" lvl="0" marL="0" rtl="0" algn="l">
              <a:spcBef>
                <a:spcPts val="800"/>
              </a:spcBef>
              <a:spcAft>
                <a:spcPts val="0"/>
              </a:spcAft>
              <a:buNone/>
            </a:pPr>
            <a:r>
              <a:rPr lang="en">
                <a:latin typeface="Sora Light"/>
                <a:ea typeface="Sora Light"/>
                <a:cs typeface="Sora Light"/>
                <a:sym typeface="Sora Light"/>
              </a:rPr>
              <a:t>Modular codebase, clear documentation, and admin controls for updates.</a:t>
            </a:r>
            <a:endParaRPr>
              <a:latin typeface="Sora Light"/>
              <a:ea typeface="Sora Light"/>
              <a:cs typeface="Sora Light"/>
              <a:sym typeface="Sora Light"/>
            </a:endParaRPr>
          </a:p>
          <a:p>
            <a:pPr indent="0" lvl="0" marL="0" rtl="0" algn="l">
              <a:spcBef>
                <a:spcPts val="800"/>
              </a:spcBef>
              <a:spcAft>
                <a:spcPts val="0"/>
              </a:spcAft>
              <a:buNone/>
            </a:pPr>
            <a:r>
              <a:rPr lang="en" sz="1600">
                <a:latin typeface="IBM Plex Sans Medium"/>
                <a:ea typeface="IBM Plex Sans Medium"/>
                <a:cs typeface="IBM Plex Sans Medium"/>
                <a:sym typeface="IBM Plex Sans Medium"/>
              </a:rPr>
              <a:t>Portability:</a:t>
            </a:r>
            <a:endParaRPr sz="1600">
              <a:latin typeface="IBM Plex Sans Medium"/>
              <a:ea typeface="IBM Plex Sans Medium"/>
              <a:cs typeface="IBM Plex Sans Medium"/>
              <a:sym typeface="IBM Plex Sans Medium"/>
            </a:endParaRPr>
          </a:p>
          <a:p>
            <a:pPr indent="0" lvl="0" marL="0" rtl="0" algn="l">
              <a:spcBef>
                <a:spcPts val="800"/>
              </a:spcBef>
              <a:spcAft>
                <a:spcPts val="0"/>
              </a:spcAft>
              <a:buNone/>
            </a:pPr>
            <a:r>
              <a:rPr lang="en">
                <a:latin typeface="Sora Light"/>
                <a:ea typeface="Sora Light"/>
                <a:cs typeface="Sora Light"/>
                <a:sym typeface="Sora Light"/>
              </a:rPr>
              <a:t>Compatible with Chrome, Firefox, and Edge.</a:t>
            </a:r>
            <a:endParaRPr sz="1600">
              <a:latin typeface="IBM Plex Sans Medium"/>
              <a:ea typeface="IBM Plex Sans Medium"/>
              <a:cs typeface="IBM Plex Sans Medium"/>
              <a:sym typeface="IBM Plex Sans Medium"/>
            </a:endParaRPr>
          </a:p>
          <a:p>
            <a:pPr indent="0" lvl="0" marL="0" rtl="0" algn="l">
              <a:spcBef>
                <a:spcPts val="800"/>
              </a:spcBef>
              <a:spcAft>
                <a:spcPts val="0"/>
              </a:spcAft>
              <a:buNone/>
            </a:pPr>
            <a:r>
              <a:rPr lang="en" sz="1600">
                <a:latin typeface="IBM Plex Sans Medium"/>
                <a:ea typeface="IBM Plex Sans Medium"/>
                <a:cs typeface="IBM Plex Sans Medium"/>
                <a:sym typeface="IBM Plex Sans Medium"/>
              </a:rPr>
              <a:t>Scalability:</a:t>
            </a:r>
            <a:endParaRPr>
              <a:latin typeface="Sora Light"/>
              <a:ea typeface="Sora Light"/>
              <a:cs typeface="Sora Light"/>
              <a:sym typeface="Sora Light"/>
            </a:endParaRPr>
          </a:p>
          <a:p>
            <a:pPr indent="0" lvl="0" marL="0" rtl="0" algn="l">
              <a:spcBef>
                <a:spcPts val="800"/>
              </a:spcBef>
              <a:spcAft>
                <a:spcPts val="0"/>
              </a:spcAft>
              <a:buNone/>
            </a:pPr>
            <a:r>
              <a:rPr lang="en">
                <a:latin typeface="Sora Light"/>
                <a:ea typeface="Sora Light"/>
                <a:cs typeface="Sora Light"/>
                <a:sym typeface="Sora Light"/>
              </a:rPr>
              <a:t>Designed to serve additional departments/universities.</a:t>
            </a:r>
            <a:endParaRPr>
              <a:latin typeface="Sora Light"/>
              <a:ea typeface="Sora Light"/>
              <a:cs typeface="Sora Light"/>
              <a:sym typeface="Sora Light"/>
            </a:endParaRPr>
          </a:p>
          <a:p>
            <a:pPr indent="0" lvl="0" marL="0" rtl="0" algn="l">
              <a:spcBef>
                <a:spcPts val="800"/>
              </a:spcBef>
              <a:spcAft>
                <a:spcPts val="0"/>
              </a:spcAft>
              <a:buNone/>
            </a:pPr>
            <a:r>
              <a:t/>
            </a:r>
            <a:endParaRPr>
              <a:latin typeface="Sora Light"/>
              <a:ea typeface="Sora Light"/>
              <a:cs typeface="Sora Light"/>
              <a:sym typeface="Sora Light"/>
            </a:endParaRPr>
          </a:p>
          <a:p>
            <a:pPr indent="0" lvl="0" marL="0" rtl="0" algn="l">
              <a:spcBef>
                <a:spcPts val="800"/>
              </a:spcBef>
              <a:spcAft>
                <a:spcPts val="0"/>
              </a:spcAft>
              <a:buNone/>
            </a:pPr>
            <a:r>
              <a:t/>
            </a:r>
            <a:endParaRPr>
              <a:latin typeface="Sora Light"/>
              <a:ea typeface="Sora Light"/>
              <a:cs typeface="Sora Light"/>
              <a:sym typeface="Sora Light"/>
            </a:endParaRPr>
          </a:p>
          <a:p>
            <a:pPr indent="0" lvl="0" marL="0" rtl="0" algn="l">
              <a:spcBef>
                <a:spcPts val="800"/>
              </a:spcBef>
              <a:spcAft>
                <a:spcPts val="800"/>
              </a:spcAft>
              <a:buNone/>
            </a:pPr>
            <a:r>
              <a:t/>
            </a:r>
            <a:endParaRPr>
              <a:latin typeface="Sora Light"/>
              <a:ea typeface="Sora Light"/>
              <a:cs typeface="Sora Light"/>
              <a:sym typeface="Sora Light"/>
            </a:endParaRPr>
          </a:p>
        </p:txBody>
      </p:sp>
      <p:sp>
        <p:nvSpPr>
          <p:cNvPr id="1037" name="Google Shape;1037;p6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ATGS</a:t>
            </a:r>
            <a:endParaRPr/>
          </a:p>
          <a:p>
            <a:pPr indent="0" lvl="0" marL="0" rtl="0" algn="l">
              <a:spcBef>
                <a:spcPts val="0"/>
              </a:spcBef>
              <a:spcAft>
                <a:spcPts val="0"/>
              </a:spcAft>
              <a:buNone/>
            </a:pPr>
            <a:r>
              <a:t/>
            </a:r>
            <a:endParaRPr/>
          </a:p>
        </p:txBody>
      </p:sp>
      <p:sp>
        <p:nvSpPr>
          <p:cNvPr id="1038" name="Google Shape;1038;p62"/>
          <p:cNvSpPr txBox="1"/>
          <p:nvPr>
            <p:ph idx="3" type="title"/>
          </p:nvPr>
        </p:nvSpPr>
        <p:spPr>
          <a:xfrm>
            <a:off x="115025" y="502775"/>
            <a:ext cx="3531300" cy="18471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t>Software System Attributes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63"/>
          <p:cNvSpPr txBox="1"/>
          <p:nvPr>
            <p:ph idx="2" type="title"/>
          </p:nvPr>
        </p:nvSpPr>
        <p:spPr>
          <a:xfrm>
            <a:off x="126900" y="115500"/>
            <a:ext cx="60555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Component Diagram</a:t>
            </a:r>
            <a:endParaRPr/>
          </a:p>
        </p:txBody>
      </p:sp>
      <p:pic>
        <p:nvPicPr>
          <p:cNvPr id="1044" name="Google Shape;1044;p63" title="UML Component Diagram.png"/>
          <p:cNvPicPr preferRelativeResize="0"/>
          <p:nvPr/>
        </p:nvPicPr>
        <p:blipFill>
          <a:blip r:embed="rId3">
            <a:alphaModFix/>
          </a:blip>
          <a:stretch>
            <a:fillRect/>
          </a:stretch>
        </p:blipFill>
        <p:spPr>
          <a:xfrm>
            <a:off x="152400" y="951300"/>
            <a:ext cx="7618200" cy="4039800"/>
          </a:xfrm>
          <a:prstGeom prst="roundRect">
            <a:avLst>
              <a:gd fmla="val 9574" name="adj"/>
            </a:avLst>
          </a:prstGeom>
          <a:noFill/>
          <a:ln>
            <a:noFill/>
          </a:ln>
          <a:effectLst>
            <a:outerShdw blurRad="342900" rotWithShape="0" algn="bl" dist="323850">
              <a:srgbClr val="000000"/>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64"/>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